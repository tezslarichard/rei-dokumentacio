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59" r:id="rId3"/>
    <p:sldId id="261" r:id="rId4"/>
    <p:sldId id="263" r:id="rId5"/>
    <p:sldId id="260" r:id="rId6"/>
    <p:sldId id="267" r:id="rId7"/>
    <p:sldId id="274" r:id="rId8"/>
    <p:sldId id="275" r:id="rId9"/>
    <p:sldId id="276" r:id="rId10"/>
    <p:sldId id="277" r:id="rId11"/>
    <p:sldId id="266" r:id="rId12"/>
    <p:sldId id="273" r:id="rId13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zsla Richard" initials="TR" lastIdx="1" clrIdx="0">
    <p:extLst>
      <p:ext uri="{19B8F6BF-5375-455C-9EA6-DF929625EA0E}">
        <p15:presenceInfo xmlns:p15="http://schemas.microsoft.com/office/powerpoint/2012/main" userId="S-1-5-21-789743914-405585343-3431517372-596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20" autoAdjust="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60F29-33BB-4D56-AA6F-B9C251752857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A11AB3-A547-4CC5-BC8E-053F4046780C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09235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E0C0D-D9B6-B65B-8607-C46BC6E65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AD610D-2D1C-6C08-DBF6-17CAB0FE48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3E6F4E-390D-34E2-1A4B-885BD135E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B2FA8-EC43-C7A2-421A-BFAFF9E0AC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315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B249116-A2A4-4B95-A82A-3BDF645ED9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1EAF45A-8BC8-4909-9AA5-6A4EA04CE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423A50D-4821-46D3-88B6-DCEB30FE7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E7633-0D07-4480-9210-610590A4585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0E3F344-BB9A-43E2-ABCD-521B9F62A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83FECE2-8E09-4A40-A3E1-8984E727E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7F70-40B6-4B5D-8E7E-402F969A16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9950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8B0AB93-ED6E-4E8A-A657-032CF5041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C910A30-359C-43CD-B2EA-F92FB5BE3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4E999ED-43C4-4DAF-85AA-18CA02A04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E7633-0D07-4480-9210-610590A4585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AA6F4B4-8F83-46CF-A65F-A041DBD77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1601E6E-E8A2-4403-B521-A376375DB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7F70-40B6-4B5D-8E7E-402F969A16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90433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243616C-2C06-4FE4-AEB8-06CF838CC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1A61D9F-78C0-4398-B838-40FC162A0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96D1CA1-9B1D-44A3-8B17-FEACB82DE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E7633-0D07-4480-9210-610590A4585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7A1F089-7461-4F8F-A563-0FE879B64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6374EFC-3463-4DAF-BFC4-91131182E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7F70-40B6-4B5D-8E7E-402F969A16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04276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B5FE0B-0040-4513-A292-6D0F5DFE0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B5AEC0C-BDA3-47E3-98A9-68E2B5D29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D3ABB828-B8DC-4238-A008-9C21E0D54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B0739B6-1CC2-46C4-9498-0A090B356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E7633-0D07-4480-9210-610590A4585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7EE946EB-92F4-4DE4-9BCF-D4D146CF0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7A3E872-B739-4251-9FE4-628682BBE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7F70-40B6-4B5D-8E7E-402F969A16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04005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2FBD5C-24B5-44E4-AFAE-B720F3046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BFAB26F-44E9-4B00-B468-F7B075AC2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B2B5A50C-5D29-4C67-8707-8F89E27A98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4A192DAC-3DC2-441D-AAD6-1D0C75016C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9EA39B42-620B-45F5-8457-ED84F4120F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0D751DFD-E511-45F8-A471-C46F7DC71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E7633-0D07-4480-9210-610590A4585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1471A48E-886E-439F-87AB-2FC0BEB39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5BA4F20E-BE62-4259-9119-3D07CBCF0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7F70-40B6-4B5D-8E7E-402F969A16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07652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A1488C1-99F1-4FFB-A3B7-DEB073F5E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BD897F1C-0869-42AB-A568-18C2BBEEA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E7633-0D07-4480-9210-610590A4585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31E0F33E-4025-4D8F-B5BF-412A46163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4887D37-4D24-4F5C-AF5B-90EB5A795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7F70-40B6-4B5D-8E7E-402F969A16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86520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8FE47634-C5E5-46AC-9E63-F556BA227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E7633-0D07-4480-9210-610590A4585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134CCF1F-0F8A-4C1F-B729-354D8F96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30F45FA-DF48-4EEB-AFC2-3A048570B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7F70-40B6-4B5D-8E7E-402F969A16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38838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17E381-B0D1-4BD3-9644-78B809FEC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C354F2C-BC11-445F-8ABB-FC84E6ECC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BFF01513-EC9E-451F-B056-CE9D914BC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3354984-EEEB-4FBD-B9AC-5F5DD814B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E7633-0D07-4480-9210-610590A4585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E4ADECF1-8FE4-4B5B-BC24-254DE8D5A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89C8722-0BC1-464D-84A6-DDF32CFCD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7F70-40B6-4B5D-8E7E-402F969A16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90206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F17F092-C706-42C0-BCE2-B30F65F33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2EC1D83C-18BB-4F6F-AF58-45D6DB3D7B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9192210-CD1B-4AB7-9E60-D810616DD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F66EBC7-CEB9-433F-89B8-B865EFCC0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E7633-0D07-4480-9210-610590A4585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E3FD848-F548-4811-BB54-3A998EBAE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E9BDB6A2-DEE8-4E76-A370-D8C3A0FBB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7F70-40B6-4B5D-8E7E-402F969A16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3630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FC32258-63E9-4D57-BF1C-E82AB76A7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244CC184-4744-403F-92CF-8B4AEA2E2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978D898-BEA2-4150-BC76-4B8E766FE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E7633-0D07-4480-9210-610590A4585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B88DE21-C93C-419B-8152-8B1B7AFA7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C83D8F7-F249-4226-904F-4DFD786A3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7F70-40B6-4B5D-8E7E-402F969A16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83750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874A5571-9BDE-4516-BB0E-F5914C98B1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CABEB9F1-54D2-4ABC-9211-9D17446C5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520FFCF-E0BF-4F54-B237-70174B78F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E7633-0D07-4480-9210-610590A4585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9074AD0-8296-4694-B1C8-2532B3EF9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4192A51-1258-4757-8621-62FD07371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6D7F70-40B6-4B5D-8E7E-402F969A16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629260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9803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0CE80C13-BAF6-487F-BEB2-AD8D6022A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6391F6BE-0C2D-4F18-9B7E-AC648CCC4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E0B0B61-F040-423D-AB40-1DF12A4674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E7633-0D07-4480-9210-610590A45856}" type="datetimeFigureOut">
              <a:rPr lang="hu-HU" smtClean="0"/>
              <a:t>2026. 04. 16.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975A7F5-E9E0-45AF-B08B-C2169A52B7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C951576-F874-470A-8440-AD2239A1C3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6D7F70-40B6-4B5D-8E7E-402F969A16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70010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8224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97536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9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 Webshop</a:t>
            </a:r>
            <a:endParaRPr lang="en-US" sz="6933" dirty="0"/>
          </a:p>
        </p:txBody>
      </p:sp>
      <p:sp>
        <p:nvSpPr>
          <p:cNvPr id="6" name="Text 4"/>
          <p:cNvSpPr/>
          <p:nvPr/>
        </p:nvSpPr>
        <p:spPr>
          <a:xfrm>
            <a:off x="731520" y="2987040"/>
            <a:ext cx="1036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</a:t>
            </a:r>
            <a:r>
              <a:rPr lang="en-US" sz="2400" dirty="0" err="1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ruházati</a:t>
            </a:r>
            <a:r>
              <a:rPr lang="en-US" sz="24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webáruhá</a:t>
            </a:r>
            <a:r>
              <a:rPr lang="hu-HU" sz="24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3779520"/>
            <a:ext cx="4876800" cy="60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 sz="400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hu-HU" sz="4000" dirty="0">
                <a:solidFill>
                  <a:schemeClr val="bg1"/>
                </a:solidFill>
              </a:rPr>
              <a:t>Készítette: Tézsla Richárd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4693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609600" y="1219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Projekt áttekintés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87679" y="1584960"/>
            <a:ext cx="5236407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 sz="2800"/>
          </a:p>
        </p:txBody>
      </p:sp>
      <p:sp>
        <p:nvSpPr>
          <p:cNvPr id="5" name="Shape 3"/>
          <p:cNvSpPr/>
          <p:nvPr/>
        </p:nvSpPr>
        <p:spPr>
          <a:xfrm>
            <a:off x="487679" y="1584960"/>
            <a:ext cx="5236407" cy="2682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 sz="2800"/>
          </a:p>
        </p:txBody>
      </p:sp>
      <p:sp>
        <p:nvSpPr>
          <p:cNvPr id="6" name="Text 4"/>
          <p:cNvSpPr/>
          <p:nvPr/>
        </p:nvSpPr>
        <p:spPr>
          <a:xfrm>
            <a:off x="633983" y="2011680"/>
            <a:ext cx="478499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Célkitűzés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33983" y="2804160"/>
            <a:ext cx="4784993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Ruházati webshop fejlesztése</a:t>
            </a:r>
          </a:p>
          <a:p>
            <a:pPr marL="457200" indent="-457200">
              <a:buFontTx/>
              <a:buChar char="-"/>
            </a:pPr>
            <a:r>
              <a:rPr lang="hu-HU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</a:t>
            </a:r>
          </a:p>
          <a:p>
            <a:pPr marL="457200" indent="-457200">
              <a:buFontTx/>
              <a:buChar char="-"/>
            </a:pPr>
            <a:r>
              <a:rPr lang="hu-HU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Figyelem felkeltő</a:t>
            </a:r>
          </a:p>
          <a:p>
            <a:endParaRPr lang="hu-HU" sz="28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096000" y="1584960"/>
            <a:ext cx="560832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 sz="2800"/>
          </a:p>
        </p:txBody>
      </p:sp>
      <p:sp>
        <p:nvSpPr>
          <p:cNvPr id="13" name="Shape 11"/>
          <p:cNvSpPr/>
          <p:nvPr/>
        </p:nvSpPr>
        <p:spPr>
          <a:xfrm>
            <a:off x="6096000" y="1584960"/>
            <a:ext cx="5608320" cy="2682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 sz="2800"/>
          </a:p>
        </p:txBody>
      </p:sp>
      <p:sp>
        <p:nvSpPr>
          <p:cNvPr id="14" name="Text 12"/>
          <p:cNvSpPr/>
          <p:nvPr/>
        </p:nvSpPr>
        <p:spPr>
          <a:xfrm>
            <a:off x="6420979" y="2011680"/>
            <a:ext cx="512484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Eredmény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33172" y="2384612"/>
            <a:ext cx="5124845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buFontTx/>
              <a:buChar char="-"/>
            </a:pPr>
            <a:r>
              <a:rPr lang="hu-HU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Működő webshop</a:t>
            </a:r>
          </a:p>
          <a:p>
            <a:pPr marL="457200" indent="-457200">
              <a:buFontTx/>
              <a:buChar char="-"/>
            </a:pPr>
            <a:r>
              <a:rPr lang="hu-HU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Funkcionálisan működő</a:t>
            </a:r>
          </a:p>
          <a:p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267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Technológi</a:t>
            </a:r>
            <a:r>
              <a:rPr lang="hu-HU" sz="4267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ák</a:t>
            </a:r>
            <a:endParaRPr lang="en-US" sz="4267" dirty="0"/>
          </a:p>
        </p:txBody>
      </p:sp>
      <p:sp>
        <p:nvSpPr>
          <p:cNvPr id="3" name="Shape 1"/>
          <p:cNvSpPr/>
          <p:nvPr/>
        </p:nvSpPr>
        <p:spPr>
          <a:xfrm>
            <a:off x="609600" y="1280160"/>
            <a:ext cx="10972800" cy="48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 sz="2800"/>
          </a:p>
        </p:txBody>
      </p:sp>
      <p:sp>
        <p:nvSpPr>
          <p:cNvPr id="4" name="Shape 2"/>
          <p:cNvSpPr/>
          <p:nvPr/>
        </p:nvSpPr>
        <p:spPr>
          <a:xfrm>
            <a:off x="487680" y="1524000"/>
            <a:ext cx="3535680" cy="48768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 sz="2800"/>
          </a:p>
        </p:txBody>
      </p:sp>
      <p:sp>
        <p:nvSpPr>
          <p:cNvPr id="5" name="Shape 3"/>
          <p:cNvSpPr/>
          <p:nvPr/>
        </p:nvSpPr>
        <p:spPr>
          <a:xfrm>
            <a:off x="487680" y="1524000"/>
            <a:ext cx="3535680" cy="609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 sz="2800"/>
          </a:p>
        </p:txBody>
      </p:sp>
      <p:sp>
        <p:nvSpPr>
          <p:cNvPr id="6" name="Text 4"/>
          <p:cNvSpPr/>
          <p:nvPr/>
        </p:nvSpPr>
        <p:spPr>
          <a:xfrm>
            <a:off x="609600" y="1584960"/>
            <a:ext cx="3291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07136" y="2438400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 sz="2800"/>
          </a:p>
        </p:txBody>
      </p:sp>
      <p:sp>
        <p:nvSpPr>
          <p:cNvPr id="8" name="Text 6"/>
          <p:cNvSpPr/>
          <p:nvPr/>
        </p:nvSpPr>
        <p:spPr>
          <a:xfrm>
            <a:off x="950976" y="2353056"/>
            <a:ext cx="286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07136" y="3121152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 sz="2800"/>
          </a:p>
        </p:txBody>
      </p:sp>
      <p:sp>
        <p:nvSpPr>
          <p:cNvPr id="10" name="Text 8"/>
          <p:cNvSpPr/>
          <p:nvPr/>
        </p:nvSpPr>
        <p:spPr>
          <a:xfrm>
            <a:off x="950976" y="3035808"/>
            <a:ext cx="286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DOM v7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07136" y="3803904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 sz="2800"/>
          </a:p>
        </p:txBody>
      </p:sp>
      <p:sp>
        <p:nvSpPr>
          <p:cNvPr id="12" name="Text 10"/>
          <p:cNvSpPr/>
          <p:nvPr/>
        </p:nvSpPr>
        <p:spPr>
          <a:xfrm>
            <a:off x="950976" y="3718560"/>
            <a:ext cx="286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bundler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707136" y="448665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 sz="2800"/>
          </a:p>
        </p:txBody>
      </p:sp>
      <p:sp>
        <p:nvSpPr>
          <p:cNvPr id="14" name="Text 12"/>
          <p:cNvSpPr/>
          <p:nvPr/>
        </p:nvSpPr>
        <p:spPr>
          <a:xfrm>
            <a:off x="950976" y="4401312"/>
            <a:ext cx="286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 (auth, kosár)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707136" y="516940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 sz="2800"/>
          </a:p>
        </p:txBody>
      </p:sp>
      <p:sp>
        <p:nvSpPr>
          <p:cNvPr id="16" name="Text 14"/>
          <p:cNvSpPr/>
          <p:nvPr/>
        </p:nvSpPr>
        <p:spPr>
          <a:xfrm>
            <a:off x="950976" y="5084064"/>
            <a:ext cx="286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+ CSS modulok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328160" y="1524000"/>
            <a:ext cx="3535680" cy="48768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hu-HU" sz="2800"/>
          </a:p>
        </p:txBody>
      </p:sp>
      <p:sp>
        <p:nvSpPr>
          <p:cNvPr id="18" name="Shape 16"/>
          <p:cNvSpPr/>
          <p:nvPr/>
        </p:nvSpPr>
        <p:spPr>
          <a:xfrm>
            <a:off x="4328160" y="1524000"/>
            <a:ext cx="3535680" cy="609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hu-HU" sz="2800"/>
          </a:p>
        </p:txBody>
      </p:sp>
      <p:sp>
        <p:nvSpPr>
          <p:cNvPr id="19" name="Text 17"/>
          <p:cNvSpPr/>
          <p:nvPr/>
        </p:nvSpPr>
        <p:spPr>
          <a:xfrm>
            <a:off x="4450080" y="1584960"/>
            <a:ext cx="3291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4547616" y="2438400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hu-HU" sz="2800"/>
          </a:p>
        </p:txBody>
      </p:sp>
      <p:sp>
        <p:nvSpPr>
          <p:cNvPr id="21" name="Text 19"/>
          <p:cNvSpPr/>
          <p:nvPr/>
        </p:nvSpPr>
        <p:spPr>
          <a:xfrm>
            <a:off x="4791456" y="2353056"/>
            <a:ext cx="286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4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4547616" y="3121152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hu-HU" sz="2800"/>
          </a:p>
        </p:txBody>
      </p:sp>
      <p:sp>
        <p:nvSpPr>
          <p:cNvPr id="23" name="Text 21"/>
          <p:cNvSpPr/>
          <p:nvPr/>
        </p:nvSpPr>
        <p:spPr>
          <a:xfrm>
            <a:off x="4791456" y="3035808"/>
            <a:ext cx="286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4547616" y="3803904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hu-HU" sz="2800"/>
          </a:p>
        </p:txBody>
      </p:sp>
      <p:sp>
        <p:nvSpPr>
          <p:cNvPr id="25" name="Text 23"/>
          <p:cNvSpPr/>
          <p:nvPr/>
        </p:nvSpPr>
        <p:spPr>
          <a:xfrm>
            <a:off x="4791456" y="3718560"/>
            <a:ext cx="286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autentikáció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4514088" y="4328160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hu-HU" sz="2800"/>
          </a:p>
        </p:txBody>
      </p:sp>
      <p:sp>
        <p:nvSpPr>
          <p:cNvPr id="27" name="Text 25"/>
          <p:cNvSpPr/>
          <p:nvPr/>
        </p:nvSpPr>
        <p:spPr>
          <a:xfrm>
            <a:off x="4791456" y="4401312"/>
            <a:ext cx="286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jelszó hash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4547616" y="5169408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hu-HU" sz="2800"/>
          </a:p>
        </p:txBody>
      </p:sp>
      <p:sp>
        <p:nvSpPr>
          <p:cNvPr id="29" name="Text 27"/>
          <p:cNvSpPr/>
          <p:nvPr/>
        </p:nvSpPr>
        <p:spPr>
          <a:xfrm>
            <a:off x="4791456" y="5084064"/>
            <a:ext cx="286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middleware</a:t>
            </a:r>
            <a:endParaRPr lang="en-US" sz="2800" dirty="0"/>
          </a:p>
        </p:txBody>
      </p:sp>
      <p:sp>
        <p:nvSpPr>
          <p:cNvPr id="30" name="Shape 28"/>
          <p:cNvSpPr/>
          <p:nvPr/>
        </p:nvSpPr>
        <p:spPr>
          <a:xfrm>
            <a:off x="8168640" y="1524000"/>
            <a:ext cx="3535680" cy="4876800"/>
          </a:xfrm>
          <a:prstGeom prst="rect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u-HU" sz="2800"/>
          </a:p>
        </p:txBody>
      </p:sp>
      <p:sp>
        <p:nvSpPr>
          <p:cNvPr id="31" name="Shape 29"/>
          <p:cNvSpPr/>
          <p:nvPr/>
        </p:nvSpPr>
        <p:spPr>
          <a:xfrm>
            <a:off x="8168640" y="1524000"/>
            <a:ext cx="3535680" cy="609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u-HU" sz="2800"/>
          </a:p>
        </p:txBody>
      </p:sp>
      <p:sp>
        <p:nvSpPr>
          <p:cNvPr id="32" name="Text 30"/>
          <p:cNvSpPr/>
          <p:nvPr/>
        </p:nvSpPr>
        <p:spPr>
          <a:xfrm>
            <a:off x="8290560" y="1584960"/>
            <a:ext cx="3291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Adatbázis</a:t>
            </a:r>
            <a:endParaRPr lang="en-US" sz="2800" dirty="0"/>
          </a:p>
        </p:txBody>
      </p:sp>
      <p:sp>
        <p:nvSpPr>
          <p:cNvPr id="33" name="Shape 31"/>
          <p:cNvSpPr/>
          <p:nvPr/>
        </p:nvSpPr>
        <p:spPr>
          <a:xfrm>
            <a:off x="8388096" y="2438400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u-HU" sz="2800"/>
          </a:p>
        </p:txBody>
      </p:sp>
      <p:sp>
        <p:nvSpPr>
          <p:cNvPr id="34" name="Text 32"/>
          <p:cNvSpPr/>
          <p:nvPr/>
        </p:nvSpPr>
        <p:spPr>
          <a:xfrm>
            <a:off x="8631936" y="2353056"/>
            <a:ext cx="286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2</a:t>
            </a:r>
            <a:endParaRPr lang="en-US" sz="2800" dirty="0"/>
          </a:p>
        </p:txBody>
      </p:sp>
      <p:sp>
        <p:nvSpPr>
          <p:cNvPr id="35" name="Shape 33"/>
          <p:cNvSpPr/>
          <p:nvPr/>
        </p:nvSpPr>
        <p:spPr>
          <a:xfrm>
            <a:off x="8388096" y="3121152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u-HU" sz="2800"/>
          </a:p>
        </p:txBody>
      </p:sp>
      <p:sp>
        <p:nvSpPr>
          <p:cNvPr id="36" name="Text 34"/>
          <p:cNvSpPr/>
          <p:nvPr/>
        </p:nvSpPr>
        <p:spPr>
          <a:xfrm>
            <a:off x="8631936" y="3035808"/>
            <a:ext cx="286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Tranzakciókezelés</a:t>
            </a:r>
            <a:endParaRPr lang="en-US" sz="2800" dirty="0"/>
          </a:p>
        </p:txBody>
      </p:sp>
      <p:sp>
        <p:nvSpPr>
          <p:cNvPr id="37" name="Shape 35"/>
          <p:cNvSpPr/>
          <p:nvPr/>
        </p:nvSpPr>
        <p:spPr>
          <a:xfrm>
            <a:off x="8388096" y="3803904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u-HU" sz="2800"/>
          </a:p>
        </p:txBody>
      </p:sp>
      <p:sp>
        <p:nvSpPr>
          <p:cNvPr id="38" name="Text 36"/>
          <p:cNvSpPr/>
          <p:nvPr/>
        </p:nvSpPr>
        <p:spPr>
          <a:xfrm>
            <a:off x="8631936" y="3718560"/>
            <a:ext cx="286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pooling</a:t>
            </a:r>
            <a:endParaRPr lang="en-US" sz="2800" dirty="0"/>
          </a:p>
        </p:txBody>
      </p:sp>
      <p:sp>
        <p:nvSpPr>
          <p:cNvPr id="39" name="Shape 37"/>
          <p:cNvSpPr/>
          <p:nvPr/>
        </p:nvSpPr>
        <p:spPr>
          <a:xfrm>
            <a:off x="8388096" y="4486656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u-HU" sz="2800"/>
          </a:p>
        </p:txBody>
      </p:sp>
      <p:sp>
        <p:nvSpPr>
          <p:cNvPr id="40" name="Text 38"/>
          <p:cNvSpPr/>
          <p:nvPr/>
        </p:nvSpPr>
        <p:spPr>
          <a:xfrm>
            <a:off x="8631936" y="4401312"/>
            <a:ext cx="286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Relációs séma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8631936" y="5084064"/>
            <a:ext cx="286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609600" y="1219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Adatmodell – Táblák és kapcsolatok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423169" y="1292352"/>
            <a:ext cx="32918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423169" y="1292352"/>
            <a:ext cx="329184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545089" y="1341120"/>
            <a:ext cx="3048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felhasznalok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06049" y="1731264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PK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06049" y="2060448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06049" y="2389632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UNIQUE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06049" y="2718816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password_hash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06049" y="3048000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is_admin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06049" y="3377184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511040" y="1292352"/>
            <a:ext cx="3291840" cy="3023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4" name="Shape 12"/>
          <p:cNvSpPr/>
          <p:nvPr/>
        </p:nvSpPr>
        <p:spPr>
          <a:xfrm>
            <a:off x="4511040" y="1292352"/>
            <a:ext cx="329184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4632960" y="1341120"/>
            <a:ext cx="3048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termekek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93920" y="1731264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PK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93920" y="2060448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93920" y="2389632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693920" y="2718816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693920" y="3048000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693920" y="3377184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kategoria_id FK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693920" y="3706368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image_url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693920" y="4035552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stock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8598911" y="1301348"/>
            <a:ext cx="3291840" cy="12284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u-HU" sz="2400"/>
          </a:p>
        </p:txBody>
      </p:sp>
      <p:sp>
        <p:nvSpPr>
          <p:cNvPr id="25" name="Shape 23"/>
          <p:cNvSpPr/>
          <p:nvPr/>
        </p:nvSpPr>
        <p:spPr>
          <a:xfrm>
            <a:off x="8598911" y="1301348"/>
            <a:ext cx="329184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 sz="2400"/>
          </a:p>
        </p:txBody>
      </p:sp>
      <p:sp>
        <p:nvSpPr>
          <p:cNvPr id="26" name="Text 24"/>
          <p:cNvSpPr/>
          <p:nvPr/>
        </p:nvSpPr>
        <p:spPr>
          <a:xfrm>
            <a:off x="8720831" y="1350116"/>
            <a:ext cx="3048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kategoria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781791" y="1740260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PK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781791" y="2069444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423169" y="4328160"/>
            <a:ext cx="3291840" cy="2060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u-HU" sz="2400"/>
          </a:p>
        </p:txBody>
      </p:sp>
      <p:sp>
        <p:nvSpPr>
          <p:cNvPr id="30" name="Shape 28"/>
          <p:cNvSpPr/>
          <p:nvPr/>
        </p:nvSpPr>
        <p:spPr>
          <a:xfrm>
            <a:off x="423169" y="4328160"/>
            <a:ext cx="329184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 sz="2400"/>
          </a:p>
        </p:txBody>
      </p:sp>
      <p:sp>
        <p:nvSpPr>
          <p:cNvPr id="31" name="Text 29"/>
          <p:cNvSpPr/>
          <p:nvPr/>
        </p:nvSpPr>
        <p:spPr>
          <a:xfrm>
            <a:off x="545089" y="4376928"/>
            <a:ext cx="3048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kosar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06049" y="4767072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PK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06049" y="5096256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felhasznalo_id FK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06049" y="5425440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termek_id FK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06049" y="5754624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mennyiseg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4511040" y="4565904"/>
            <a:ext cx="3291840" cy="21701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u-HU" sz="2400"/>
          </a:p>
        </p:txBody>
      </p:sp>
      <p:sp>
        <p:nvSpPr>
          <p:cNvPr id="37" name="Shape 35"/>
          <p:cNvSpPr/>
          <p:nvPr/>
        </p:nvSpPr>
        <p:spPr>
          <a:xfrm>
            <a:off x="4511040" y="4565904"/>
            <a:ext cx="329184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 sz="2400"/>
          </a:p>
        </p:txBody>
      </p:sp>
      <p:sp>
        <p:nvSpPr>
          <p:cNvPr id="38" name="Text 36"/>
          <p:cNvSpPr/>
          <p:nvPr/>
        </p:nvSpPr>
        <p:spPr>
          <a:xfrm>
            <a:off x="4632960" y="4614672"/>
            <a:ext cx="3048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rendeles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4693920" y="5004816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PK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4693920" y="5334000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user_id FK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4693920" y="5663184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total_amount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4693920" y="5992368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4693920" y="6321552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endParaRPr lang="en-US" sz="2400" dirty="0"/>
          </a:p>
        </p:txBody>
      </p:sp>
      <p:sp>
        <p:nvSpPr>
          <p:cNvPr id="44" name="Shape 42"/>
          <p:cNvSpPr/>
          <p:nvPr/>
        </p:nvSpPr>
        <p:spPr>
          <a:xfrm>
            <a:off x="8656320" y="4328160"/>
            <a:ext cx="3291840" cy="2273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hu-HU" sz="2400"/>
          </a:p>
        </p:txBody>
      </p:sp>
      <p:sp>
        <p:nvSpPr>
          <p:cNvPr id="45" name="Shape 43"/>
          <p:cNvSpPr/>
          <p:nvPr/>
        </p:nvSpPr>
        <p:spPr>
          <a:xfrm>
            <a:off x="8656320" y="4328160"/>
            <a:ext cx="329184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 sz="2400"/>
          </a:p>
        </p:txBody>
      </p:sp>
      <p:sp>
        <p:nvSpPr>
          <p:cNvPr id="46" name="Text 44"/>
          <p:cNvSpPr/>
          <p:nvPr/>
        </p:nvSpPr>
        <p:spPr>
          <a:xfrm>
            <a:off x="8778240" y="4376928"/>
            <a:ext cx="3048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rendeles_tetel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8839200" y="4767072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PK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8839200" y="5096256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rendeles_id FK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8839200" y="5425440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termek_id FK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8839200" y="5754624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8839200" y="6083808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unit_price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API Végpontok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5974080" cy="1219200"/>
          </a:xfrm>
          <a:prstGeom prst="rect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/>
          <p:nvPr/>
        </p:nvSpPr>
        <p:spPr>
          <a:xfrm>
            <a:off x="512064" y="13533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 /api/auth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1743456"/>
            <a:ext cx="560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</a:t>
            </a:r>
            <a:r>
              <a:rPr lang="en-US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/regisztracio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2097024"/>
            <a:ext cx="560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</a:t>
            </a:r>
            <a:r>
              <a:rPr lang="en-US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/bejelentkezes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65760" y="4264739"/>
            <a:ext cx="5974080" cy="2316480"/>
          </a:xfrm>
          <a:prstGeom prst="rect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/>
          <p:nvPr/>
        </p:nvSpPr>
        <p:spPr>
          <a:xfrm>
            <a:off x="512064" y="4337891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Termékek  /api/termekek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4728035"/>
            <a:ext cx="560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</a:t>
            </a:r>
            <a:r>
              <a:rPr lang="en-US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 (szűrők: kategória, keresés, ár, rendezés)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3024" y="5132213"/>
            <a:ext cx="560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</a:t>
            </a:r>
            <a:r>
              <a:rPr lang="en-US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/:id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9600" y="5435171"/>
            <a:ext cx="560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</a:t>
            </a:r>
            <a:r>
              <a:rPr lang="en-US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 [admin]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9600" y="5788739"/>
            <a:ext cx="560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</a:t>
            </a:r>
            <a:r>
              <a:rPr lang="en-US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/:id  [admin]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9600" y="6142307"/>
            <a:ext cx="560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</a:t>
            </a:r>
            <a:r>
              <a:rPr lang="en-US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/:id  [admin]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559296" y="844156"/>
            <a:ext cx="5266944" cy="2584844"/>
          </a:xfrm>
          <a:prstGeom prst="rect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/>
          <p:nvPr/>
        </p:nvSpPr>
        <p:spPr>
          <a:xfrm>
            <a:off x="6681216" y="867366"/>
            <a:ext cx="5669280" cy="484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Kosár  /api/kosar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78752" y="1257510"/>
            <a:ext cx="5608320" cy="4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</a:t>
            </a: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 [auth]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78752" y="1611078"/>
            <a:ext cx="5608320" cy="4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</a:t>
            </a: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 [auth]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778752" y="1964646"/>
            <a:ext cx="5608320" cy="4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</a:t>
            </a: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/:id  [auth]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78752" y="2318214"/>
            <a:ext cx="5608320" cy="4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</a:t>
            </a: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/:id  [auth]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65760" y="2826083"/>
            <a:ext cx="5974080" cy="1219200"/>
          </a:xfrm>
          <a:prstGeom prst="rect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9"/>
          <p:cNvSpPr/>
          <p:nvPr/>
        </p:nvSpPr>
        <p:spPr>
          <a:xfrm>
            <a:off x="512064" y="2966291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DB27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Rendelések  /api/rendelesek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9600" y="3356435"/>
            <a:ext cx="560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</a:t>
            </a:r>
            <a:r>
              <a:rPr lang="en-US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 [auth]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9600" y="3710003"/>
            <a:ext cx="560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</a:t>
            </a:r>
            <a:r>
              <a:rPr lang="en-US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 [auth – megrendel]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559296" y="3782568"/>
            <a:ext cx="5273879" cy="2747450"/>
          </a:xfrm>
          <a:prstGeom prst="rect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u-HU" sz="2000"/>
          </a:p>
        </p:txBody>
      </p:sp>
      <p:sp>
        <p:nvSpPr>
          <p:cNvPr id="25" name="Text 23"/>
          <p:cNvSpPr/>
          <p:nvPr/>
        </p:nvSpPr>
        <p:spPr>
          <a:xfrm>
            <a:off x="6729984" y="4269843"/>
            <a:ext cx="5669280" cy="433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 /api/admin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27520" y="4666792"/>
            <a:ext cx="5608320" cy="390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</a:t>
            </a: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/felhasznalok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827520" y="5020360"/>
            <a:ext cx="5608320" cy="390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</a:t>
            </a: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/felhasznalok/:id/admin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827520" y="5373928"/>
            <a:ext cx="5608320" cy="390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</a:t>
            </a: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/felhasznalok/:id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827520" y="5727496"/>
            <a:ext cx="5608320" cy="390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</a:t>
            </a: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/rendelesek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827520" y="6081064"/>
            <a:ext cx="5608320" cy="3904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</a:t>
            </a: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/rendelesek/:id/status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609600" y="1219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Kliens-oldali</a:t>
            </a:r>
            <a:r>
              <a:rPr lang="en-US" sz="3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3733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képernyő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365760" y="1402080"/>
            <a:ext cx="3535680" cy="213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365760" y="1402080"/>
            <a:ext cx="121920" cy="2133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609600" y="1621536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🏠  Főoldal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609600" y="2194560"/>
            <a:ext cx="31699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szekció, kiemelt termékek,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hírlevel</a:t>
            </a:r>
            <a:r>
              <a:rPr lang="hu-HU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328160" y="1402080"/>
            <a:ext cx="3535680" cy="213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9" name="Shape 7"/>
          <p:cNvSpPr/>
          <p:nvPr/>
        </p:nvSpPr>
        <p:spPr>
          <a:xfrm>
            <a:off x="4328160" y="1402080"/>
            <a:ext cx="121920" cy="2133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/>
          <p:nvPr/>
        </p:nvSpPr>
        <p:spPr>
          <a:xfrm>
            <a:off x="4572000" y="1621536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🛍️  Terméklista</a:t>
            </a:r>
            <a:endParaRPr lang="en-US" sz="1867" dirty="0"/>
          </a:p>
        </p:txBody>
      </p:sp>
      <p:sp>
        <p:nvSpPr>
          <p:cNvPr id="11" name="Text 9"/>
          <p:cNvSpPr/>
          <p:nvPr/>
        </p:nvSpPr>
        <p:spPr>
          <a:xfrm>
            <a:off x="4572000" y="2194560"/>
            <a:ext cx="31699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Szűrés kategóriára, keresés,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ár-intervallum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290560" y="1402080"/>
            <a:ext cx="3535680" cy="213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3" name="Shape 11"/>
          <p:cNvSpPr/>
          <p:nvPr/>
        </p:nvSpPr>
        <p:spPr>
          <a:xfrm>
            <a:off x="8290560" y="1402080"/>
            <a:ext cx="121920" cy="2133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/>
          <p:cNvSpPr/>
          <p:nvPr/>
        </p:nvSpPr>
        <p:spPr>
          <a:xfrm>
            <a:off x="8534400" y="1621536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Termékrészlet</a:t>
            </a:r>
            <a:endParaRPr lang="en-US" sz="1867" dirty="0"/>
          </a:p>
        </p:txBody>
      </p:sp>
      <p:sp>
        <p:nvSpPr>
          <p:cNvPr id="15" name="Text 13"/>
          <p:cNvSpPr/>
          <p:nvPr/>
        </p:nvSpPr>
        <p:spPr>
          <a:xfrm>
            <a:off x="8534400" y="2194560"/>
            <a:ext cx="31699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Fotó,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leírás,készlet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kosár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387736" y="3763384"/>
            <a:ext cx="3535680" cy="213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7" name="Shape 15"/>
          <p:cNvSpPr/>
          <p:nvPr/>
        </p:nvSpPr>
        <p:spPr>
          <a:xfrm>
            <a:off x="1387736" y="3779520"/>
            <a:ext cx="121920" cy="2133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6"/>
          <p:cNvSpPr/>
          <p:nvPr/>
        </p:nvSpPr>
        <p:spPr>
          <a:xfrm>
            <a:off x="1631576" y="3998976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🛒  Kosár</a:t>
            </a:r>
            <a:endParaRPr lang="en-US" sz="1867" dirty="0"/>
          </a:p>
        </p:txBody>
      </p:sp>
      <p:sp>
        <p:nvSpPr>
          <p:cNvPr id="19" name="Text 17"/>
          <p:cNvSpPr/>
          <p:nvPr/>
        </p:nvSpPr>
        <p:spPr>
          <a:xfrm>
            <a:off x="1631576" y="4572000"/>
            <a:ext cx="31699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Tételek listája, mennyiségmódosítás,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törlés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936889" y="3779520"/>
            <a:ext cx="3535680" cy="213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1" name="Shape 19"/>
          <p:cNvSpPr/>
          <p:nvPr/>
        </p:nvSpPr>
        <p:spPr>
          <a:xfrm>
            <a:off x="6936889" y="3779520"/>
            <a:ext cx="121920" cy="2133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20"/>
          <p:cNvSpPr/>
          <p:nvPr/>
        </p:nvSpPr>
        <p:spPr>
          <a:xfrm>
            <a:off x="7180729" y="3998976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Rendelések</a:t>
            </a:r>
            <a:endParaRPr lang="en-US" sz="1867" dirty="0"/>
          </a:p>
        </p:txBody>
      </p:sp>
      <p:sp>
        <p:nvSpPr>
          <p:cNvPr id="23" name="Text 21"/>
          <p:cNvSpPr/>
          <p:nvPr/>
        </p:nvSpPr>
        <p:spPr>
          <a:xfrm>
            <a:off x="7180729" y="4572000"/>
            <a:ext cx="31699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rendelési előzmények tételekkel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en-US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státus</a:t>
            </a:r>
            <a:r>
              <a:rPr lang="hu-HU" sz="24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zok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0" y="6461760"/>
            <a:ext cx="12192000" cy="243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8AE17-4216-6ECF-D058-0856996C8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9B93BBC-33A9-9887-B8FF-4795C9245F78}"/>
              </a:ext>
            </a:extLst>
          </p:cNvPr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50C448-DDEE-DC5E-5B26-01BC1816B695}"/>
              </a:ext>
            </a:extLst>
          </p:cNvPr>
          <p:cNvSpPr/>
          <p:nvPr/>
        </p:nvSpPr>
        <p:spPr>
          <a:xfrm>
            <a:off x="609600" y="1219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hu-HU" sz="3733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Admin-oldali képernyő</a:t>
            </a:r>
            <a:endParaRPr lang="en-US" sz="3733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F994A9B-3570-C5A2-2DA2-21D2A7740D48}"/>
              </a:ext>
            </a:extLst>
          </p:cNvPr>
          <p:cNvSpPr/>
          <p:nvPr/>
        </p:nvSpPr>
        <p:spPr>
          <a:xfrm>
            <a:off x="365760" y="1402080"/>
            <a:ext cx="3535680" cy="213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FEAF830-9CC6-1469-0E2E-CE3EDE4113DD}"/>
              </a:ext>
            </a:extLst>
          </p:cNvPr>
          <p:cNvSpPr/>
          <p:nvPr/>
        </p:nvSpPr>
        <p:spPr>
          <a:xfrm>
            <a:off x="365760" y="1402080"/>
            <a:ext cx="121920" cy="2133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96BBD47-800F-A777-4DAA-53161D86AB54}"/>
              </a:ext>
            </a:extLst>
          </p:cNvPr>
          <p:cNvSpPr/>
          <p:nvPr/>
        </p:nvSpPr>
        <p:spPr>
          <a:xfrm>
            <a:off x="609600" y="1621536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🏠  </a:t>
            </a:r>
            <a:r>
              <a:rPr lang="hu-HU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867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072FA0B-C6F6-2B4D-9498-430C2CA80DFB}"/>
              </a:ext>
            </a:extLst>
          </p:cNvPr>
          <p:cNvSpPr/>
          <p:nvPr/>
        </p:nvSpPr>
        <p:spPr>
          <a:xfrm>
            <a:off x="609600" y="2194560"/>
            <a:ext cx="31699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Statisztikak,rendelések</a:t>
            </a:r>
            <a:endParaRPr lang="en-US" sz="2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54ED0AE1-DED8-4FAF-642C-C95A174A817E}"/>
              </a:ext>
            </a:extLst>
          </p:cNvPr>
          <p:cNvSpPr/>
          <p:nvPr/>
        </p:nvSpPr>
        <p:spPr>
          <a:xfrm>
            <a:off x="4328160" y="1402080"/>
            <a:ext cx="3535680" cy="213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114E9EF-75E8-D107-CF74-78024FAC7DA1}"/>
              </a:ext>
            </a:extLst>
          </p:cNvPr>
          <p:cNvSpPr/>
          <p:nvPr/>
        </p:nvSpPr>
        <p:spPr>
          <a:xfrm>
            <a:off x="4328160" y="1402080"/>
            <a:ext cx="121920" cy="2133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4A5C0DB-7B08-2CC4-396E-8E67C4B89047}"/>
              </a:ext>
            </a:extLst>
          </p:cNvPr>
          <p:cNvSpPr/>
          <p:nvPr/>
        </p:nvSpPr>
        <p:spPr>
          <a:xfrm>
            <a:off x="4572000" y="1621536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🛍️  </a:t>
            </a:r>
            <a:r>
              <a:rPr lang="en-US" sz="1867" b="1" dirty="0" err="1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Termék</a:t>
            </a:r>
            <a:r>
              <a:rPr lang="hu-HU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ek fül</a:t>
            </a:r>
            <a:endParaRPr lang="en-US" sz="1867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F3461DA-071A-9F96-1B4F-763A84C1F002}"/>
              </a:ext>
            </a:extLst>
          </p:cNvPr>
          <p:cNvSpPr/>
          <p:nvPr/>
        </p:nvSpPr>
        <p:spPr>
          <a:xfrm>
            <a:off x="4572000" y="2194560"/>
            <a:ext cx="31699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2400" dirty="0"/>
              <a:t>Összes termék,edit funkciók</a:t>
            </a:r>
            <a:endParaRPr lang="en-US" sz="24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612A8FB-415B-176D-511A-0FF28A62A76B}"/>
              </a:ext>
            </a:extLst>
          </p:cNvPr>
          <p:cNvSpPr/>
          <p:nvPr/>
        </p:nvSpPr>
        <p:spPr>
          <a:xfrm>
            <a:off x="8290560" y="1402080"/>
            <a:ext cx="3535680" cy="213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6519074-D56B-8378-68B7-A3181822B1C3}"/>
              </a:ext>
            </a:extLst>
          </p:cNvPr>
          <p:cNvSpPr/>
          <p:nvPr/>
        </p:nvSpPr>
        <p:spPr>
          <a:xfrm>
            <a:off x="8290560" y="1402080"/>
            <a:ext cx="121920" cy="2133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47EE795-E7CE-E47C-A1C3-0B93A2AE8513}"/>
              </a:ext>
            </a:extLst>
          </p:cNvPr>
          <p:cNvSpPr/>
          <p:nvPr/>
        </p:nvSpPr>
        <p:spPr>
          <a:xfrm>
            <a:off x="8534400" y="1621536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</a:t>
            </a:r>
            <a:r>
              <a:rPr lang="hu-HU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Kategóriák</a:t>
            </a:r>
            <a:endParaRPr lang="en-US" sz="1867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127D69B-7EBD-97AB-DBB3-F4255D466C69}"/>
              </a:ext>
            </a:extLst>
          </p:cNvPr>
          <p:cNvSpPr/>
          <p:nvPr/>
        </p:nvSpPr>
        <p:spPr>
          <a:xfrm>
            <a:off x="8534400" y="2194560"/>
            <a:ext cx="31699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Összes kategória,edit funkciók + hozzáadás</a:t>
            </a:r>
            <a:endParaRPr lang="en-US" sz="24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CD704CCA-14F9-CBEF-07C4-1350DC15FD02}"/>
              </a:ext>
            </a:extLst>
          </p:cNvPr>
          <p:cNvSpPr/>
          <p:nvPr/>
        </p:nvSpPr>
        <p:spPr>
          <a:xfrm>
            <a:off x="365760" y="3779520"/>
            <a:ext cx="3535680" cy="213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6E660F0E-BEF0-0736-EB4F-B43B9B109CEA}"/>
              </a:ext>
            </a:extLst>
          </p:cNvPr>
          <p:cNvSpPr/>
          <p:nvPr/>
        </p:nvSpPr>
        <p:spPr>
          <a:xfrm>
            <a:off x="365760" y="3779520"/>
            <a:ext cx="121920" cy="2133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563A226A-92E5-912B-3C42-51A4B9148763}"/>
              </a:ext>
            </a:extLst>
          </p:cNvPr>
          <p:cNvSpPr/>
          <p:nvPr/>
        </p:nvSpPr>
        <p:spPr>
          <a:xfrm>
            <a:off x="609600" y="3998976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🛒  </a:t>
            </a:r>
            <a:r>
              <a:rPr lang="hu-HU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Rendelések</a:t>
            </a:r>
            <a:endParaRPr lang="en-US" sz="1867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8B06C09-8C98-A078-9610-BA34AE4ACA92}"/>
              </a:ext>
            </a:extLst>
          </p:cNvPr>
          <p:cNvSpPr/>
          <p:nvPr/>
        </p:nvSpPr>
        <p:spPr>
          <a:xfrm>
            <a:off x="609600" y="4572000"/>
            <a:ext cx="31699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Fiókok rendelései, státusz edit</a:t>
            </a:r>
            <a:endParaRPr lang="en-US" sz="24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D33DEB0-36BF-AD33-80DA-7DFF501008DF}"/>
              </a:ext>
            </a:extLst>
          </p:cNvPr>
          <p:cNvSpPr/>
          <p:nvPr/>
        </p:nvSpPr>
        <p:spPr>
          <a:xfrm>
            <a:off x="4328160" y="3779520"/>
            <a:ext cx="3535680" cy="213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B2F9C2E-D274-645F-A3F2-F72776AB8A1A}"/>
              </a:ext>
            </a:extLst>
          </p:cNvPr>
          <p:cNvSpPr/>
          <p:nvPr/>
        </p:nvSpPr>
        <p:spPr>
          <a:xfrm>
            <a:off x="4328160" y="3779520"/>
            <a:ext cx="121920" cy="2133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4DEAF0D-B39C-38DB-D2AB-FC589D5AA4DD}"/>
              </a:ext>
            </a:extLst>
          </p:cNvPr>
          <p:cNvSpPr/>
          <p:nvPr/>
        </p:nvSpPr>
        <p:spPr>
          <a:xfrm>
            <a:off x="4572000" y="3998976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</a:t>
            </a:r>
            <a:r>
              <a:rPr lang="hu-HU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Felhasználók</a:t>
            </a:r>
            <a:endParaRPr lang="en-US" sz="1867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C3D470A-6E4F-812D-C290-2AD69878CE16}"/>
              </a:ext>
            </a:extLst>
          </p:cNvPr>
          <p:cNvSpPr/>
          <p:nvPr/>
        </p:nvSpPr>
        <p:spPr>
          <a:xfrm>
            <a:off x="4572000" y="4572000"/>
            <a:ext cx="31699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2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Törlés lehetőség, adminhoz adás</a:t>
            </a:r>
            <a:endParaRPr lang="en-US" sz="24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322E11D-E109-E5EC-DF5D-2DF01C63E983}"/>
              </a:ext>
            </a:extLst>
          </p:cNvPr>
          <p:cNvSpPr/>
          <p:nvPr/>
        </p:nvSpPr>
        <p:spPr>
          <a:xfrm>
            <a:off x="8290560" y="3779520"/>
            <a:ext cx="3535680" cy="2133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DBB636F-55B0-82AB-5FE4-33FD6DE49367}"/>
              </a:ext>
            </a:extLst>
          </p:cNvPr>
          <p:cNvSpPr/>
          <p:nvPr/>
        </p:nvSpPr>
        <p:spPr>
          <a:xfrm>
            <a:off x="8290560" y="3779520"/>
            <a:ext cx="121920" cy="2133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1EE0AC0-3781-84CF-D7D9-444EF0DF1278}"/>
              </a:ext>
            </a:extLst>
          </p:cNvPr>
          <p:cNvSpPr/>
          <p:nvPr/>
        </p:nvSpPr>
        <p:spPr>
          <a:xfrm>
            <a:off x="8534400" y="3998976"/>
            <a:ext cx="31699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</a:t>
            </a:r>
            <a:r>
              <a:rPr lang="hu-HU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Bejövő üzenetek</a:t>
            </a:r>
            <a:endParaRPr lang="en-US" sz="1867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14B7646-BB76-47E9-7060-6C3802F7A684}"/>
              </a:ext>
            </a:extLst>
          </p:cNvPr>
          <p:cNvSpPr/>
          <p:nvPr/>
        </p:nvSpPr>
        <p:spPr>
          <a:xfrm>
            <a:off x="8534400" y="4572000"/>
            <a:ext cx="316992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2400" dirty="0"/>
              <a:t>Név, tárgy, üzenet, dátum </a:t>
            </a:r>
            <a:endParaRPr lang="en-US" sz="24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17EA8337-4BF8-E6D0-954B-058D2DADAA79}"/>
              </a:ext>
            </a:extLst>
          </p:cNvPr>
          <p:cNvSpPr/>
          <p:nvPr/>
        </p:nvSpPr>
        <p:spPr>
          <a:xfrm>
            <a:off x="0" y="6461760"/>
            <a:ext cx="12192000" cy="243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28505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</a:ln>
        </p:spPr>
        <p:txBody>
          <a:bodyPr/>
          <a:lstStyle/>
          <a:p>
            <a:endParaRPr lang="hu-HU"/>
          </a:p>
        </p:txBody>
      </p:sp>
      <p:sp>
        <p:nvSpPr>
          <p:cNvPr id="3" name="AccentLine"/>
          <p:cNvSpPr/>
          <p:nvPr/>
        </p:nvSpPr>
        <p:spPr>
          <a:xfrm>
            <a:off x="0" y="1097280"/>
            <a:ext cx="12192000" cy="48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hu-HU"/>
          </a:p>
        </p:txBody>
      </p:sp>
      <p:sp>
        <p:nvSpPr>
          <p:cNvPr id="4" name="Title"/>
          <p:cNvSpPr/>
          <p:nvPr/>
        </p:nvSpPr>
        <p:spPr>
          <a:xfrm>
            <a:off x="609600" y="1219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hu-HU" sz="3600" b="1" dirty="0">
                <a:solidFill>
                  <a:srgbClr val="FFFFFF"/>
                </a:solidFill>
                <a:latin typeface="Trebuchet MS" pitchFamily="34" charset="0"/>
              </a:rPr>
              <a:t>Frontend Komponensek</a:t>
            </a:r>
          </a:p>
        </p:txBody>
      </p:sp>
      <p:sp>
        <p:nvSpPr>
          <p:cNvPr id="5" name="C1bg"/>
          <p:cNvSpPr/>
          <p:nvPr/>
        </p:nvSpPr>
        <p:spPr>
          <a:xfrm>
            <a:off x="304800" y="1280160"/>
            <a:ext cx="3657600" cy="5120640"/>
          </a:xfrm>
          <a:prstGeom prst="rect">
            <a:avLst/>
          </a:prstGeom>
          <a:solidFill>
            <a:srgbClr val="FFFFFF">
              <a:alpha val="5000"/>
            </a:srgbClr>
          </a:solidFill>
          <a:ln w="19050">
            <a:solidFill>
              <a:srgbClr val="0D9488"/>
            </a:solidFill>
          </a:ln>
        </p:spPr>
        <p:txBody>
          <a:bodyPr/>
          <a:lstStyle/>
          <a:p>
            <a:endParaRPr lang="hu-HU"/>
          </a:p>
        </p:txBody>
      </p:sp>
      <p:sp>
        <p:nvSpPr>
          <p:cNvPr id="6" name="C1top"/>
          <p:cNvSpPr/>
          <p:nvPr/>
        </p:nvSpPr>
        <p:spPr>
          <a:xfrm>
            <a:off x="304800" y="1280160"/>
            <a:ext cx="36576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hu-HU"/>
          </a:p>
        </p:txBody>
      </p:sp>
      <p:sp>
        <p:nvSpPr>
          <p:cNvPr id="7" name="C1title"/>
          <p:cNvSpPr/>
          <p:nvPr/>
        </p:nvSpPr>
        <p:spPr>
          <a:xfrm>
            <a:off x="426720" y="1310880"/>
            <a:ext cx="3413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2000" b="1" dirty="0">
                <a:solidFill>
                  <a:srgbClr val="FFFFFF"/>
                </a:solidFill>
                <a:latin typeface="Trebuchet MS" pitchFamily="34" charset="0"/>
              </a:rPr>
              <a:t>Oldal komponensek</a:t>
            </a:r>
          </a:p>
        </p:txBody>
      </p:sp>
      <p:sp>
        <p:nvSpPr>
          <p:cNvPr id="8" name="C1body"/>
          <p:cNvSpPr/>
          <p:nvPr/>
        </p:nvSpPr>
        <p:spPr>
          <a:xfrm>
            <a:off x="426720" y="1889280"/>
            <a:ext cx="3413760" cy="4389120"/>
          </a:xfrm>
          <a:prstGeom prst="rect">
            <a:avLst/>
          </a:prstGeom>
          <a:noFill/>
          <a:ln/>
        </p:spPr>
        <p:txBody>
          <a:bodyPr wrap="square" lIns="0" tIns="60960" rIns="0" bIns="0" rtlCol="0" anchor="t"/>
          <a:lstStyle/>
          <a:p>
            <a:r>
              <a:rPr lang="hu-HU" dirty="0">
                <a:solidFill>
                  <a:srgbClr val="FFFFFF"/>
                </a:solidFill>
                <a:latin typeface="Calibri" pitchFamily="34" charset="0"/>
              </a:rPr>
              <a:t>HomePage – Logo, Részletek</a:t>
            </a:r>
          </a:p>
          <a:p>
            <a:endParaRPr lang="hu-HU" dirty="0"/>
          </a:p>
          <a:p>
            <a:r>
              <a:rPr lang="hu-HU" dirty="0">
                <a:solidFill>
                  <a:srgbClr val="FFFFFF"/>
                </a:solidFill>
                <a:latin typeface="Calibri" pitchFamily="34" charset="0"/>
              </a:rPr>
              <a:t>TermekLista - Termékek</a:t>
            </a:r>
          </a:p>
          <a:p>
            <a:endParaRPr lang="hu-HU" dirty="0"/>
          </a:p>
          <a:p>
            <a:r>
              <a:rPr lang="hu-HU" dirty="0">
                <a:solidFill>
                  <a:srgbClr val="FFFFFF"/>
                </a:solidFill>
                <a:latin typeface="Calibri" pitchFamily="34" charset="0"/>
              </a:rPr>
              <a:t>TermekReszlet – Leírások</a:t>
            </a:r>
            <a:endParaRPr lang="hu-HU" dirty="0"/>
          </a:p>
          <a:p>
            <a:endParaRPr lang="hu-HU" dirty="0">
              <a:solidFill>
                <a:srgbClr val="FFFFFF"/>
              </a:solidFill>
              <a:latin typeface="Calibri" pitchFamily="34" charset="0"/>
            </a:endParaRPr>
          </a:p>
          <a:p>
            <a:r>
              <a:rPr lang="hu-HU" dirty="0">
                <a:solidFill>
                  <a:srgbClr val="FFFFFF"/>
                </a:solidFill>
                <a:latin typeface="Calibri" pitchFamily="34" charset="0"/>
              </a:rPr>
              <a:t>Kosar</a:t>
            </a:r>
          </a:p>
          <a:p>
            <a:endParaRPr lang="hu-HU" dirty="0"/>
          </a:p>
          <a:p>
            <a:r>
              <a:rPr lang="hu-HU" dirty="0">
                <a:solidFill>
                  <a:srgbClr val="FFFFFF"/>
                </a:solidFill>
                <a:latin typeface="Calibri" pitchFamily="34" charset="0"/>
              </a:rPr>
              <a:t>Profil </a:t>
            </a:r>
          </a:p>
          <a:p>
            <a:endParaRPr lang="hu-HU" dirty="0">
              <a:solidFill>
                <a:srgbClr val="FFFFFF"/>
              </a:solidFill>
              <a:latin typeface="Calibri" pitchFamily="34" charset="0"/>
            </a:endParaRPr>
          </a:p>
          <a:p>
            <a:r>
              <a:rPr lang="hu-HU" dirty="0">
                <a:solidFill>
                  <a:srgbClr val="FFFFFF"/>
                </a:solidFill>
                <a:latin typeface="Calibri" pitchFamily="34" charset="0"/>
              </a:rPr>
              <a:t>Bejelentkezes</a:t>
            </a:r>
          </a:p>
          <a:p>
            <a:endParaRPr lang="hu-HU" dirty="0">
              <a:solidFill>
                <a:srgbClr val="FFFFFF"/>
              </a:solidFill>
              <a:latin typeface="Calibri" pitchFamily="34" charset="0"/>
            </a:endParaRPr>
          </a:p>
          <a:p>
            <a:r>
              <a:rPr lang="hu-HU" dirty="0">
                <a:solidFill>
                  <a:srgbClr val="FFFFFF"/>
                </a:solidFill>
                <a:latin typeface="Calibri" pitchFamily="34" charset="0"/>
              </a:rPr>
              <a:t>Regisztracio</a:t>
            </a:r>
          </a:p>
        </p:txBody>
      </p:sp>
      <p:sp>
        <p:nvSpPr>
          <p:cNvPr id="9" name="C2bg"/>
          <p:cNvSpPr/>
          <p:nvPr/>
        </p:nvSpPr>
        <p:spPr>
          <a:xfrm>
            <a:off x="4267200" y="1280160"/>
            <a:ext cx="3657600" cy="5120640"/>
          </a:xfrm>
          <a:prstGeom prst="rect">
            <a:avLst/>
          </a:prstGeom>
          <a:solidFill>
            <a:srgbClr val="FFFFFF">
              <a:alpha val="5000"/>
            </a:srgbClr>
          </a:solidFill>
          <a:ln w="19050">
            <a:solidFill>
              <a:srgbClr val="0891B2"/>
            </a:solidFill>
          </a:ln>
        </p:spPr>
        <p:txBody>
          <a:bodyPr/>
          <a:lstStyle/>
          <a:p>
            <a:endParaRPr lang="hu-HU"/>
          </a:p>
        </p:txBody>
      </p:sp>
      <p:sp>
        <p:nvSpPr>
          <p:cNvPr id="10" name="C2top"/>
          <p:cNvSpPr/>
          <p:nvPr/>
        </p:nvSpPr>
        <p:spPr>
          <a:xfrm>
            <a:off x="4267200" y="1280160"/>
            <a:ext cx="365760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</a:ln>
        </p:spPr>
        <p:txBody>
          <a:bodyPr/>
          <a:lstStyle/>
          <a:p>
            <a:endParaRPr lang="hu-HU"/>
          </a:p>
        </p:txBody>
      </p:sp>
      <p:sp>
        <p:nvSpPr>
          <p:cNvPr id="11" name="C2title"/>
          <p:cNvSpPr/>
          <p:nvPr/>
        </p:nvSpPr>
        <p:spPr>
          <a:xfrm>
            <a:off x="4389120" y="1310880"/>
            <a:ext cx="3413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2000" b="1" dirty="0">
                <a:solidFill>
                  <a:srgbClr val="FFFFFF"/>
                </a:solidFill>
                <a:latin typeface="Trebuchet MS" pitchFamily="34" charset="0"/>
              </a:rPr>
              <a:t>UI komponensek</a:t>
            </a:r>
          </a:p>
        </p:txBody>
      </p:sp>
      <p:sp>
        <p:nvSpPr>
          <p:cNvPr id="12" name="C2body"/>
          <p:cNvSpPr/>
          <p:nvPr/>
        </p:nvSpPr>
        <p:spPr>
          <a:xfrm>
            <a:off x="4389120" y="1889280"/>
            <a:ext cx="3413760" cy="4389120"/>
          </a:xfrm>
          <a:prstGeom prst="rect">
            <a:avLst/>
          </a:prstGeom>
          <a:noFill/>
          <a:ln/>
        </p:spPr>
        <p:txBody>
          <a:bodyPr wrap="square" lIns="0" tIns="60960" rIns="0" bIns="0" rtlCol="0" anchor="t"/>
          <a:lstStyle/>
          <a:p>
            <a:r>
              <a:rPr lang="hu-HU" dirty="0">
                <a:solidFill>
                  <a:srgbClr val="FFFFFF"/>
                </a:solidFill>
                <a:latin typeface="Calibri" pitchFamily="34" charset="0"/>
              </a:rPr>
              <a:t>Header – Navigation </a:t>
            </a:r>
          </a:p>
          <a:p>
            <a:endParaRPr lang="hu-HU" dirty="0"/>
          </a:p>
          <a:p>
            <a:r>
              <a:rPr lang="hu-HU" dirty="0">
                <a:solidFill>
                  <a:srgbClr val="FFFFFF"/>
                </a:solidFill>
                <a:latin typeface="Calibri" pitchFamily="34" charset="0"/>
              </a:rPr>
              <a:t>Footer - Elérhetőség</a:t>
            </a:r>
          </a:p>
          <a:p>
            <a:endParaRPr lang="hu-HU" dirty="0"/>
          </a:p>
          <a:p>
            <a:r>
              <a:rPr lang="hu-HU" dirty="0">
                <a:solidFill>
                  <a:srgbClr val="FFFFFF"/>
                </a:solidFill>
                <a:latin typeface="Calibri" pitchFamily="34" charset="0"/>
              </a:rPr>
              <a:t>Hirlevel - Feliratkozás</a:t>
            </a:r>
          </a:p>
          <a:p>
            <a:endParaRPr lang="hu-HU" dirty="0"/>
          </a:p>
          <a:p>
            <a:r>
              <a:rPr lang="hu-HU" dirty="0">
                <a:solidFill>
                  <a:srgbClr val="FFFFFF"/>
                </a:solidFill>
                <a:latin typeface="Calibri" pitchFamily="34" charset="0"/>
              </a:rPr>
              <a:t>Kategoriak </a:t>
            </a:r>
          </a:p>
          <a:p>
            <a:endParaRPr lang="hu-HU" dirty="0"/>
          </a:p>
          <a:p>
            <a:r>
              <a:rPr lang="hu-HU" dirty="0">
                <a:solidFill>
                  <a:srgbClr val="FFFFFF"/>
                </a:solidFill>
                <a:latin typeface="Calibri" pitchFamily="34" charset="0"/>
              </a:rPr>
              <a:t>Admin</a:t>
            </a:r>
          </a:p>
        </p:txBody>
      </p:sp>
      <p:sp>
        <p:nvSpPr>
          <p:cNvPr id="13" name="C3bg"/>
          <p:cNvSpPr/>
          <p:nvPr/>
        </p:nvSpPr>
        <p:spPr>
          <a:xfrm>
            <a:off x="8229600" y="1280160"/>
            <a:ext cx="3657600" cy="5120640"/>
          </a:xfrm>
          <a:prstGeom prst="rect">
            <a:avLst/>
          </a:prstGeom>
          <a:solidFill>
            <a:srgbClr val="FFFFFF">
              <a:alpha val="5000"/>
            </a:srgbClr>
          </a:solidFill>
          <a:ln w="19050">
            <a:solidFill>
              <a:srgbClr val="7C3AED"/>
            </a:solidFill>
          </a:ln>
        </p:spPr>
        <p:txBody>
          <a:bodyPr/>
          <a:lstStyle/>
          <a:p>
            <a:endParaRPr lang="hu-HU"/>
          </a:p>
        </p:txBody>
      </p:sp>
      <p:sp>
        <p:nvSpPr>
          <p:cNvPr id="14" name="C3top"/>
          <p:cNvSpPr/>
          <p:nvPr/>
        </p:nvSpPr>
        <p:spPr>
          <a:xfrm>
            <a:off x="8229600" y="1280160"/>
            <a:ext cx="36576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/>
          <a:lstStyle/>
          <a:p>
            <a:endParaRPr lang="hu-HU"/>
          </a:p>
        </p:txBody>
      </p:sp>
      <p:sp>
        <p:nvSpPr>
          <p:cNvPr id="15" name="C3title"/>
          <p:cNvSpPr/>
          <p:nvPr/>
        </p:nvSpPr>
        <p:spPr>
          <a:xfrm>
            <a:off x="8351520" y="1310880"/>
            <a:ext cx="3413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2000" b="1" dirty="0">
                <a:solidFill>
                  <a:srgbClr val="FFFFFF"/>
                </a:solidFill>
                <a:latin typeface="Trebuchet MS" pitchFamily="34" charset="0"/>
              </a:rPr>
              <a:t>Admin komponensek</a:t>
            </a:r>
          </a:p>
        </p:txBody>
      </p:sp>
      <p:sp>
        <p:nvSpPr>
          <p:cNvPr id="16" name="C3body"/>
          <p:cNvSpPr/>
          <p:nvPr/>
        </p:nvSpPr>
        <p:spPr>
          <a:xfrm>
            <a:off x="8351520" y="1889280"/>
            <a:ext cx="3413760" cy="4389120"/>
          </a:xfrm>
          <a:prstGeom prst="rect">
            <a:avLst/>
          </a:prstGeom>
          <a:noFill/>
          <a:ln/>
        </p:spPr>
        <p:txBody>
          <a:bodyPr wrap="square" lIns="0" tIns="60960" rIns="0" bIns="0" rtlCol="0" anchor="t"/>
          <a:lstStyle/>
          <a:p>
            <a:r>
              <a:rPr lang="hu-HU" dirty="0">
                <a:solidFill>
                  <a:srgbClr val="FFFFFF"/>
                </a:solidFill>
                <a:latin typeface="Calibri" pitchFamily="34" charset="0"/>
              </a:rPr>
              <a:t>AdminDashboard </a:t>
            </a:r>
          </a:p>
          <a:p>
            <a:endParaRPr lang="hu-HU" dirty="0"/>
          </a:p>
          <a:p>
            <a:r>
              <a:rPr lang="hu-HU" dirty="0">
                <a:solidFill>
                  <a:srgbClr val="FFFFFF"/>
                </a:solidFill>
                <a:latin typeface="Calibri" pitchFamily="34" charset="0"/>
              </a:rPr>
              <a:t>AdminTermekek </a:t>
            </a:r>
          </a:p>
          <a:p>
            <a:endParaRPr lang="hu-HU" dirty="0"/>
          </a:p>
          <a:p>
            <a:r>
              <a:rPr lang="hu-HU" dirty="0">
                <a:solidFill>
                  <a:srgbClr val="FFFFFF"/>
                </a:solidFill>
                <a:latin typeface="Calibri" pitchFamily="34" charset="0"/>
              </a:rPr>
              <a:t>AdminKategoriak</a:t>
            </a:r>
          </a:p>
          <a:p>
            <a:endParaRPr lang="hu-HU" dirty="0"/>
          </a:p>
          <a:p>
            <a:r>
              <a:rPr lang="hu-HU" dirty="0">
                <a:solidFill>
                  <a:srgbClr val="FFFFFF"/>
                </a:solidFill>
                <a:latin typeface="Calibri" pitchFamily="34" charset="0"/>
              </a:rPr>
              <a:t>AdminRendelesek</a:t>
            </a:r>
          </a:p>
          <a:p>
            <a:endParaRPr lang="hu-HU" dirty="0"/>
          </a:p>
          <a:p>
            <a:r>
              <a:rPr lang="hu-HU" dirty="0">
                <a:solidFill>
                  <a:srgbClr val="FFFFFF"/>
                </a:solidFill>
                <a:latin typeface="Calibri" pitchFamily="34" charset="0"/>
              </a:rPr>
              <a:t>AdminFelhasznalok</a:t>
            </a:r>
          </a:p>
          <a:p>
            <a:endParaRPr lang="hu-HU" dirty="0">
              <a:solidFill>
                <a:srgbClr val="FFFFFF"/>
              </a:solidFill>
              <a:latin typeface="Calibri" pitchFamily="34" charset="0"/>
            </a:endParaRPr>
          </a:p>
          <a:p>
            <a:r>
              <a:rPr lang="hu-HU" dirty="0">
                <a:solidFill>
                  <a:srgbClr val="FFFFFF"/>
                </a:solidFill>
                <a:latin typeface="Calibri" pitchFamily="34" charset="0"/>
              </a:rPr>
              <a:t>AdminUzenetek</a:t>
            </a:r>
          </a:p>
        </p:txBody>
      </p:sp>
      <p:sp>
        <p:nvSpPr>
          <p:cNvPr id="17" name="BottomBar"/>
          <p:cNvSpPr/>
          <p:nvPr/>
        </p:nvSpPr>
        <p:spPr>
          <a:xfrm>
            <a:off x="0" y="6614400"/>
            <a:ext cx="12192000" cy="243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hu-H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</a:ln>
        </p:spPr>
        <p:txBody>
          <a:bodyPr/>
          <a:lstStyle/>
          <a:p>
            <a:endParaRPr lang="hu-HU"/>
          </a:p>
        </p:txBody>
      </p:sp>
      <p:sp>
        <p:nvSpPr>
          <p:cNvPr id="3" name="HL"/>
          <p:cNvSpPr/>
          <p:nvPr/>
        </p:nvSpPr>
        <p:spPr>
          <a:xfrm>
            <a:off x="0" y="1097280"/>
            <a:ext cx="12192000" cy="48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hu-HU"/>
          </a:p>
        </p:txBody>
      </p:sp>
      <p:sp>
        <p:nvSpPr>
          <p:cNvPr id="4" name="T"/>
          <p:cNvSpPr/>
          <p:nvPr/>
        </p:nvSpPr>
        <p:spPr>
          <a:xfrm>
            <a:off x="609600" y="1219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hu-HU" sz="3600" b="1" dirty="0">
                <a:solidFill>
                  <a:srgbClr val="FFFFFF"/>
                </a:solidFill>
                <a:latin typeface="Trebuchet MS" pitchFamily="34" charset="0"/>
              </a:rPr>
              <a:t>Context API Providerek</a:t>
            </a:r>
          </a:p>
        </p:txBody>
      </p:sp>
      <p:sp>
        <p:nvSpPr>
          <p:cNvPr id="5" name="A1bg"/>
          <p:cNvSpPr/>
          <p:nvPr/>
        </p:nvSpPr>
        <p:spPr>
          <a:xfrm>
            <a:off x="304800" y="1280160"/>
            <a:ext cx="5608800" cy="5120640"/>
          </a:xfrm>
          <a:prstGeom prst="rect">
            <a:avLst/>
          </a:prstGeom>
          <a:solidFill>
            <a:srgbClr val="FFFFFF">
              <a:alpha val="5000"/>
            </a:srgbClr>
          </a:solidFill>
          <a:ln w="19050">
            <a:solidFill>
              <a:srgbClr val="0D9488"/>
            </a:solidFill>
          </a:ln>
        </p:spPr>
        <p:txBody>
          <a:bodyPr/>
          <a:lstStyle/>
          <a:p>
            <a:endParaRPr lang="hu-HU"/>
          </a:p>
        </p:txBody>
      </p:sp>
      <p:sp>
        <p:nvSpPr>
          <p:cNvPr id="6" name="A1top"/>
          <p:cNvSpPr/>
          <p:nvPr/>
        </p:nvSpPr>
        <p:spPr>
          <a:xfrm>
            <a:off x="304800" y="1280160"/>
            <a:ext cx="56088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hu-HU"/>
          </a:p>
        </p:txBody>
      </p:sp>
      <p:sp>
        <p:nvSpPr>
          <p:cNvPr id="7" name="A1title"/>
          <p:cNvSpPr/>
          <p:nvPr/>
        </p:nvSpPr>
        <p:spPr>
          <a:xfrm>
            <a:off x="426720" y="1310880"/>
            <a:ext cx="5364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2200" b="1" dirty="0">
                <a:solidFill>
                  <a:srgbClr val="FFFFFF"/>
                </a:solidFill>
                <a:latin typeface="Trebuchet MS" pitchFamily="34" charset="0"/>
              </a:rPr>
              <a:t>AuthProvider (AuthContext.jsx)</a:t>
            </a:r>
          </a:p>
        </p:txBody>
      </p:sp>
      <p:sp>
        <p:nvSpPr>
          <p:cNvPr id="8" name="A1body"/>
          <p:cNvSpPr/>
          <p:nvPr/>
        </p:nvSpPr>
        <p:spPr>
          <a:xfrm>
            <a:off x="426720" y="1889280"/>
            <a:ext cx="5364960" cy="4389120"/>
          </a:xfrm>
          <a:prstGeom prst="rect">
            <a:avLst/>
          </a:prstGeom>
          <a:noFill/>
          <a:ln/>
        </p:spPr>
        <p:txBody>
          <a:bodyPr wrap="square" lIns="0" tIns="60960" rIns="0" bIns="0" rtlCol="0" anchor="t"/>
          <a:lstStyle/>
          <a:p>
            <a:r>
              <a:rPr lang="hu-HU" sz="2200" b="1" dirty="0">
                <a:solidFill>
                  <a:srgbClr val="0D9488"/>
                </a:solidFill>
                <a:latin typeface="Calibri" pitchFamily="34" charset="0"/>
              </a:rPr>
              <a:t>Feladat:</a:t>
            </a:r>
            <a:r>
              <a:rPr lang="hu-HU" sz="2200" dirty="0">
                <a:solidFill>
                  <a:srgbClr val="FFFFFF"/>
                </a:solidFill>
                <a:latin typeface="Calibri" pitchFamily="34" charset="0"/>
              </a:rPr>
              <a:t> bejelentkezesi allapot kezeles</a:t>
            </a:r>
          </a:p>
          <a:p>
            <a:endParaRPr lang="hu-HU" sz="2200" dirty="0"/>
          </a:p>
          <a:p>
            <a:r>
              <a:rPr lang="hu-HU" sz="2200" b="1" dirty="0">
                <a:solidFill>
                  <a:srgbClr val="0D9488"/>
                </a:solidFill>
                <a:latin typeface="Calibri" pitchFamily="34" charset="0"/>
              </a:rPr>
              <a:t>Allapot:</a:t>
            </a:r>
            <a:r>
              <a:rPr lang="hu-HU" sz="2200" dirty="0">
                <a:solidFill>
                  <a:srgbClr val="FFFFFF"/>
                </a:solidFill>
                <a:latin typeface="Calibri" pitchFamily="34" charset="0"/>
              </a:rPr>
              <a:t> felhasznalo, token, betoltes</a:t>
            </a:r>
          </a:p>
          <a:p>
            <a:endParaRPr lang="hu-HU" sz="2200" dirty="0"/>
          </a:p>
          <a:p>
            <a:r>
              <a:rPr lang="hu-HU" sz="2200" b="1" dirty="0">
                <a:solidFill>
                  <a:srgbClr val="0D9488"/>
                </a:solidFill>
                <a:latin typeface="Calibri" pitchFamily="34" charset="0"/>
              </a:rPr>
              <a:t>Fuggvenyei:</a:t>
            </a:r>
            <a:r>
              <a:rPr lang="hu-HU" sz="2200" dirty="0">
                <a:solidFill>
                  <a:srgbClr val="FFFFFF"/>
                </a:solidFill>
                <a:latin typeface="Calibri" pitchFamily="34" charset="0"/>
              </a:rPr>
              <a:t> bejelentkezes()</a:t>
            </a:r>
          </a:p>
          <a:p>
            <a:r>
              <a:rPr lang="hu-HU" sz="2200" dirty="0">
                <a:solidFill>
                  <a:srgbClr val="FFFFFF"/>
                </a:solidFill>
                <a:latin typeface="Calibri" pitchFamily="34" charset="0"/>
              </a:rPr>
              <a:t> 	     kijelentkezes()</a:t>
            </a:r>
          </a:p>
          <a:p>
            <a:r>
              <a:rPr lang="hu-HU" sz="2200" dirty="0">
                <a:solidFill>
                  <a:srgbClr val="FFFFFF"/>
                </a:solidFill>
                <a:latin typeface="Calibri" pitchFamily="34" charset="0"/>
              </a:rPr>
              <a:t>	     profilFrissites()</a:t>
            </a:r>
          </a:p>
          <a:p>
            <a:endParaRPr lang="hu-HU" sz="2200" dirty="0"/>
          </a:p>
          <a:p>
            <a:r>
              <a:rPr lang="hu-HU" sz="2200" b="1" dirty="0">
                <a:solidFill>
                  <a:srgbClr val="0D9488"/>
                </a:solidFill>
                <a:latin typeface="Calibri" pitchFamily="34" charset="0"/>
              </a:rPr>
              <a:t>Tarolas:</a:t>
            </a:r>
            <a:r>
              <a:rPr lang="hu-HU" sz="2200" dirty="0">
                <a:solidFill>
                  <a:srgbClr val="FFFFFF"/>
                </a:solidFill>
                <a:latin typeface="Calibri" pitchFamily="34" charset="0"/>
              </a:rPr>
              <a:t> localStorage (rei_token, rei_felhasznalo)</a:t>
            </a:r>
          </a:p>
          <a:p>
            <a:endParaRPr lang="hu-HU" sz="2200" dirty="0"/>
          </a:p>
          <a:p>
            <a:r>
              <a:rPr lang="hu-HU" sz="2200" b="1" dirty="0">
                <a:solidFill>
                  <a:srgbClr val="0D9488"/>
                </a:solidFill>
                <a:latin typeface="Calibri" pitchFamily="34" charset="0"/>
              </a:rPr>
              <a:t>Hook:</a:t>
            </a:r>
            <a:r>
              <a:rPr lang="hu-HU" sz="2200" dirty="0">
                <a:solidFill>
                  <a:srgbClr val="FFFFFF"/>
                </a:solidFill>
                <a:latin typeface="Calibri" pitchFamily="34" charset="0"/>
              </a:rPr>
              <a:t> useAuth() – barmely komponensbol elerheto</a:t>
            </a:r>
          </a:p>
        </p:txBody>
      </p:sp>
      <p:sp>
        <p:nvSpPr>
          <p:cNvPr id="9" name="A2bg"/>
          <p:cNvSpPr/>
          <p:nvPr/>
        </p:nvSpPr>
        <p:spPr>
          <a:xfrm>
            <a:off x="6278400" y="1280160"/>
            <a:ext cx="5608800" cy="5120640"/>
          </a:xfrm>
          <a:prstGeom prst="rect">
            <a:avLst/>
          </a:prstGeom>
          <a:solidFill>
            <a:srgbClr val="FFFFFF">
              <a:alpha val="5000"/>
            </a:srgbClr>
          </a:solidFill>
          <a:ln w="19050">
            <a:solidFill>
              <a:srgbClr val="0891B2"/>
            </a:solidFill>
          </a:ln>
        </p:spPr>
        <p:txBody>
          <a:bodyPr/>
          <a:lstStyle/>
          <a:p>
            <a:endParaRPr lang="hu-HU"/>
          </a:p>
        </p:txBody>
      </p:sp>
      <p:sp>
        <p:nvSpPr>
          <p:cNvPr id="10" name="A2top"/>
          <p:cNvSpPr/>
          <p:nvPr/>
        </p:nvSpPr>
        <p:spPr>
          <a:xfrm>
            <a:off x="6278400" y="1280160"/>
            <a:ext cx="560880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</a:ln>
        </p:spPr>
        <p:txBody>
          <a:bodyPr/>
          <a:lstStyle/>
          <a:p>
            <a:endParaRPr lang="hu-HU"/>
          </a:p>
        </p:txBody>
      </p:sp>
      <p:sp>
        <p:nvSpPr>
          <p:cNvPr id="11" name="A2title"/>
          <p:cNvSpPr/>
          <p:nvPr/>
        </p:nvSpPr>
        <p:spPr>
          <a:xfrm>
            <a:off x="6400320" y="1310880"/>
            <a:ext cx="5364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2200" b="1" dirty="0">
                <a:solidFill>
                  <a:srgbClr val="FFFFFF"/>
                </a:solidFill>
                <a:latin typeface="Trebuchet MS" pitchFamily="34" charset="0"/>
              </a:rPr>
              <a:t>KosarProvider (KosarContext.jsx)</a:t>
            </a:r>
          </a:p>
        </p:txBody>
      </p:sp>
      <p:sp>
        <p:nvSpPr>
          <p:cNvPr id="12" name="A2body"/>
          <p:cNvSpPr/>
          <p:nvPr/>
        </p:nvSpPr>
        <p:spPr>
          <a:xfrm>
            <a:off x="6400320" y="1889280"/>
            <a:ext cx="5364960" cy="4389120"/>
          </a:xfrm>
          <a:prstGeom prst="rect">
            <a:avLst/>
          </a:prstGeom>
          <a:noFill/>
          <a:ln/>
        </p:spPr>
        <p:txBody>
          <a:bodyPr wrap="square" lIns="0" tIns="60960" rIns="0" bIns="0" rtlCol="0" anchor="t"/>
          <a:lstStyle/>
          <a:p>
            <a:r>
              <a:rPr lang="hu-HU" sz="2200" b="1" dirty="0">
                <a:solidFill>
                  <a:srgbClr val="0891B2"/>
                </a:solidFill>
                <a:latin typeface="Calibri" pitchFamily="34" charset="0"/>
              </a:rPr>
              <a:t>Feladat:</a:t>
            </a:r>
            <a:r>
              <a:rPr lang="hu-HU" sz="2200" dirty="0">
                <a:solidFill>
                  <a:srgbClr val="FFFFFF"/>
                </a:solidFill>
                <a:latin typeface="Calibri" pitchFamily="34" charset="0"/>
              </a:rPr>
              <a:t> kosar allapotat kezeli globálisan</a:t>
            </a:r>
          </a:p>
          <a:p>
            <a:endParaRPr lang="hu-HU" sz="2200" dirty="0"/>
          </a:p>
          <a:p>
            <a:r>
              <a:rPr lang="hu-HU" sz="2200" b="1" dirty="0">
                <a:solidFill>
                  <a:srgbClr val="0891B2"/>
                </a:solidFill>
                <a:latin typeface="Calibri" pitchFamily="34" charset="0"/>
              </a:rPr>
              <a:t>Allapot:</a:t>
            </a:r>
            <a:r>
              <a:rPr lang="hu-HU" sz="2200" dirty="0">
                <a:solidFill>
                  <a:srgbClr val="FFFFFF"/>
                </a:solidFill>
                <a:latin typeface="Calibri" pitchFamily="34" charset="0"/>
              </a:rPr>
              <a:t> kosarTetelek, kosarDarab, kosarOsszeg</a:t>
            </a:r>
          </a:p>
          <a:p>
            <a:endParaRPr lang="hu-HU" sz="2200" dirty="0"/>
          </a:p>
          <a:p>
            <a:r>
              <a:rPr lang="hu-HU" sz="2200" b="1" dirty="0">
                <a:solidFill>
                  <a:srgbClr val="0891B2"/>
                </a:solidFill>
                <a:latin typeface="Calibri" pitchFamily="34" charset="0"/>
              </a:rPr>
              <a:t>Fuggvenyei:</a:t>
            </a:r>
            <a:r>
              <a:rPr lang="hu-HU" sz="2200" dirty="0">
                <a:solidFill>
                  <a:srgbClr val="FFFFFF"/>
                </a:solidFill>
                <a:latin typeface="Calibri" pitchFamily="34" charset="0"/>
              </a:rPr>
              <a:t> kosarbaAd(), torol(), mennyisegFrissit(), kosarUrit()</a:t>
            </a:r>
          </a:p>
          <a:p>
            <a:endParaRPr lang="hu-HU" sz="2200" dirty="0"/>
          </a:p>
          <a:p>
            <a:r>
              <a:rPr lang="hu-HU" sz="2200" b="1" dirty="0">
                <a:solidFill>
                  <a:srgbClr val="0891B2"/>
                </a:solidFill>
                <a:latin typeface="Calibri" pitchFamily="34" charset="0"/>
              </a:rPr>
              <a:t>Fueggoseg:</a:t>
            </a:r>
            <a:r>
              <a:rPr lang="hu-HU" sz="2200" dirty="0">
                <a:solidFill>
                  <a:srgbClr val="FFFFFF"/>
                </a:solidFill>
                <a:latin typeface="Calibri" pitchFamily="34" charset="0"/>
              </a:rPr>
              <a:t> AuthContext-et hasznalja (useAuth)</a:t>
            </a:r>
          </a:p>
          <a:p>
            <a:endParaRPr lang="hu-HU" sz="2200" dirty="0"/>
          </a:p>
          <a:p>
            <a:r>
              <a:rPr lang="hu-HU" sz="2200" b="1" dirty="0">
                <a:solidFill>
                  <a:srgbClr val="0891B2"/>
                </a:solidFill>
                <a:latin typeface="Calibri" pitchFamily="34" charset="0"/>
              </a:rPr>
              <a:t>Hook:</a:t>
            </a:r>
            <a:r>
              <a:rPr lang="hu-HU" sz="2200" dirty="0">
                <a:solidFill>
                  <a:srgbClr val="FFFFFF"/>
                </a:solidFill>
                <a:latin typeface="Calibri" pitchFamily="34" charset="0"/>
              </a:rPr>
              <a:t> useKosar() – globalis kosaradatok</a:t>
            </a:r>
          </a:p>
        </p:txBody>
      </p:sp>
      <p:sp>
        <p:nvSpPr>
          <p:cNvPr id="13" name="BB"/>
          <p:cNvSpPr/>
          <p:nvPr/>
        </p:nvSpPr>
        <p:spPr>
          <a:xfrm>
            <a:off x="0" y="6614400"/>
            <a:ext cx="12192000" cy="243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hu-HU"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</a:ln>
        </p:spPr>
        <p:txBody>
          <a:bodyPr/>
          <a:lstStyle/>
          <a:p>
            <a:endParaRPr lang="hu-HU" sz="2000" dirty="0"/>
          </a:p>
        </p:txBody>
      </p:sp>
      <p:sp>
        <p:nvSpPr>
          <p:cNvPr id="3" name="HL"/>
          <p:cNvSpPr/>
          <p:nvPr/>
        </p:nvSpPr>
        <p:spPr>
          <a:xfrm>
            <a:off x="0" y="1097280"/>
            <a:ext cx="12192000" cy="48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hu-HU" sz="2000"/>
          </a:p>
        </p:txBody>
      </p:sp>
      <p:sp>
        <p:nvSpPr>
          <p:cNvPr id="4" name="T"/>
          <p:cNvSpPr/>
          <p:nvPr/>
        </p:nvSpPr>
        <p:spPr>
          <a:xfrm>
            <a:off x="609600" y="12192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hu-HU" sz="3600" b="1" dirty="0">
                <a:solidFill>
                  <a:srgbClr val="FFFFFF"/>
                </a:solidFill>
                <a:latin typeface="Trebuchet MS" pitchFamily="34" charset="0"/>
              </a:rPr>
              <a:t>Kliens oldali Routing</a:t>
            </a:r>
          </a:p>
        </p:txBody>
      </p:sp>
      <p:sp>
        <p:nvSpPr>
          <p:cNvPr id="5" name="C1bg"/>
          <p:cNvSpPr/>
          <p:nvPr/>
        </p:nvSpPr>
        <p:spPr>
          <a:xfrm>
            <a:off x="304800" y="1280160"/>
            <a:ext cx="3657600" cy="5120640"/>
          </a:xfrm>
          <a:prstGeom prst="rect">
            <a:avLst/>
          </a:prstGeom>
          <a:solidFill>
            <a:srgbClr val="FFFFFF">
              <a:alpha val="5000"/>
            </a:srgbClr>
          </a:solidFill>
          <a:ln w="19050">
            <a:solidFill>
              <a:srgbClr val="0D9488"/>
            </a:solidFill>
          </a:ln>
        </p:spPr>
        <p:txBody>
          <a:bodyPr/>
          <a:lstStyle/>
          <a:p>
            <a:endParaRPr lang="hu-HU" sz="2000"/>
          </a:p>
        </p:txBody>
      </p:sp>
      <p:sp>
        <p:nvSpPr>
          <p:cNvPr id="6" name="C1top"/>
          <p:cNvSpPr/>
          <p:nvPr/>
        </p:nvSpPr>
        <p:spPr>
          <a:xfrm>
            <a:off x="304800" y="1280160"/>
            <a:ext cx="36576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hu-HU" sz="2000"/>
          </a:p>
        </p:txBody>
      </p:sp>
      <p:sp>
        <p:nvSpPr>
          <p:cNvPr id="7" name="C1title"/>
          <p:cNvSpPr/>
          <p:nvPr/>
        </p:nvSpPr>
        <p:spPr>
          <a:xfrm>
            <a:off x="426720" y="1310880"/>
            <a:ext cx="3413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2200" b="1" dirty="0">
                <a:solidFill>
                  <a:srgbClr val="FFFFFF"/>
                </a:solidFill>
                <a:latin typeface="Trebuchet MS" pitchFamily="34" charset="0"/>
              </a:rPr>
              <a:t>BrowserRouter</a:t>
            </a:r>
          </a:p>
        </p:txBody>
      </p:sp>
      <p:sp>
        <p:nvSpPr>
          <p:cNvPr id="8" name="C1body"/>
          <p:cNvSpPr/>
          <p:nvPr/>
        </p:nvSpPr>
        <p:spPr>
          <a:xfrm>
            <a:off x="426720" y="1889280"/>
            <a:ext cx="3413760" cy="4389120"/>
          </a:xfrm>
          <a:prstGeom prst="rect">
            <a:avLst/>
          </a:prstGeom>
          <a:noFill/>
          <a:ln/>
        </p:spPr>
        <p:txBody>
          <a:bodyPr wrap="square" lIns="0" tIns="60960" rIns="0" bIns="0" rtlCol="0" anchor="t"/>
          <a:lstStyle/>
          <a:p>
            <a:r>
              <a:rPr lang="hu-HU" sz="2200" dirty="0">
                <a:solidFill>
                  <a:srgbClr val="FFFFFF"/>
                </a:solidFill>
                <a:latin typeface="Calibri" pitchFamily="34" charset="0"/>
              </a:rPr>
              <a:t>Az App.jsx gyökere BrowserRouter-rel van koruleveve</a:t>
            </a:r>
          </a:p>
          <a:p>
            <a:endParaRPr lang="hu-HU" sz="2200" dirty="0"/>
          </a:p>
          <a:p>
            <a:r>
              <a:rPr lang="hu-HU" sz="2200" dirty="0">
                <a:solidFill>
                  <a:srgbClr val="FFFFFF"/>
                </a:solidFill>
                <a:latin typeface="Calibri" pitchFamily="34" charset="0"/>
              </a:rPr>
              <a:t>HTML5 history API-ra epulo oldalsuti navigacio</a:t>
            </a:r>
          </a:p>
          <a:p>
            <a:endParaRPr lang="hu-HU" sz="2200" dirty="0"/>
          </a:p>
          <a:p>
            <a:r>
              <a:rPr lang="hu-HU" sz="2200" dirty="0">
                <a:solidFill>
                  <a:srgbClr val="FFFFFF"/>
                </a:solidFill>
                <a:latin typeface="Calibri" pitchFamily="34" charset="0"/>
              </a:rPr>
              <a:t>Oldal ujratoltes nelkul navigal az utvonalak kozott</a:t>
            </a:r>
          </a:p>
          <a:p>
            <a:endParaRPr lang="hu-HU" sz="2200" dirty="0"/>
          </a:p>
          <a:p>
            <a:r>
              <a:rPr lang="hu-HU" sz="2200" dirty="0">
                <a:solidFill>
                  <a:srgbClr val="FFFFFF"/>
                </a:solidFill>
                <a:latin typeface="Calibri" pitchFamily="34" charset="0"/>
              </a:rPr>
              <a:t>React Router DOM v7 csomag</a:t>
            </a:r>
          </a:p>
        </p:txBody>
      </p:sp>
      <p:sp>
        <p:nvSpPr>
          <p:cNvPr id="9" name="C2bg"/>
          <p:cNvSpPr/>
          <p:nvPr/>
        </p:nvSpPr>
        <p:spPr>
          <a:xfrm>
            <a:off x="4267200" y="1280160"/>
            <a:ext cx="3657600" cy="5120640"/>
          </a:xfrm>
          <a:prstGeom prst="rect">
            <a:avLst/>
          </a:prstGeom>
          <a:solidFill>
            <a:srgbClr val="FFFFFF">
              <a:alpha val="5000"/>
            </a:srgbClr>
          </a:solidFill>
          <a:ln w="19050">
            <a:solidFill>
              <a:srgbClr val="0891B2"/>
            </a:solidFill>
          </a:ln>
        </p:spPr>
        <p:txBody>
          <a:bodyPr/>
          <a:lstStyle/>
          <a:p>
            <a:endParaRPr lang="hu-HU" sz="2400"/>
          </a:p>
        </p:txBody>
      </p:sp>
      <p:sp>
        <p:nvSpPr>
          <p:cNvPr id="10" name="C2top"/>
          <p:cNvSpPr/>
          <p:nvPr/>
        </p:nvSpPr>
        <p:spPr>
          <a:xfrm>
            <a:off x="4267200" y="1280160"/>
            <a:ext cx="365760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</a:ln>
        </p:spPr>
        <p:txBody>
          <a:bodyPr/>
          <a:lstStyle/>
          <a:p>
            <a:endParaRPr lang="hu-HU" sz="2400"/>
          </a:p>
        </p:txBody>
      </p:sp>
      <p:sp>
        <p:nvSpPr>
          <p:cNvPr id="11" name="C2title"/>
          <p:cNvSpPr/>
          <p:nvPr/>
        </p:nvSpPr>
        <p:spPr>
          <a:xfrm>
            <a:off x="4389120" y="1310880"/>
            <a:ext cx="3413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2400" b="1" dirty="0">
                <a:solidFill>
                  <a:srgbClr val="FFFFFF"/>
                </a:solidFill>
                <a:latin typeface="Trebuchet MS" pitchFamily="34" charset="0"/>
              </a:rPr>
              <a:t>Utvonalak (Routes)</a:t>
            </a:r>
          </a:p>
        </p:txBody>
      </p:sp>
      <p:sp>
        <p:nvSpPr>
          <p:cNvPr id="12" name="C2body"/>
          <p:cNvSpPr/>
          <p:nvPr/>
        </p:nvSpPr>
        <p:spPr>
          <a:xfrm>
            <a:off x="4389120" y="1889280"/>
            <a:ext cx="3413760" cy="4389120"/>
          </a:xfrm>
          <a:prstGeom prst="rect">
            <a:avLst/>
          </a:prstGeom>
          <a:noFill/>
          <a:ln/>
        </p:spPr>
        <p:txBody>
          <a:bodyPr wrap="square" lIns="0" tIns="60960" rIns="0" bIns="0" rtlCol="0" anchor="t"/>
          <a:lstStyle/>
          <a:p>
            <a:r>
              <a:rPr lang="hu-HU" sz="2400" dirty="0">
                <a:solidFill>
                  <a:srgbClr val="FFFFFF"/>
                </a:solidFill>
                <a:latin typeface="Calibri" pitchFamily="34" charset="0"/>
              </a:rPr>
              <a:t>/ – Fooldal</a:t>
            </a:r>
          </a:p>
          <a:p>
            <a:r>
              <a:rPr lang="hu-HU" sz="2400" dirty="0">
                <a:solidFill>
                  <a:srgbClr val="FFFFFF"/>
                </a:solidFill>
                <a:latin typeface="Calibri" pitchFamily="34" charset="0"/>
              </a:rPr>
              <a:t>/termekek – Termeklista</a:t>
            </a:r>
          </a:p>
          <a:p>
            <a:r>
              <a:rPr lang="hu-HU" sz="2400" dirty="0">
                <a:solidFill>
                  <a:srgbClr val="FFFFFF"/>
                </a:solidFill>
                <a:latin typeface="Calibri" pitchFamily="34" charset="0"/>
              </a:rPr>
              <a:t>/termekek/:id – Termekrészlet</a:t>
            </a:r>
          </a:p>
          <a:p>
            <a:r>
              <a:rPr lang="hu-HU" sz="2400" dirty="0">
                <a:solidFill>
                  <a:srgbClr val="FFFFFF"/>
                </a:solidFill>
                <a:latin typeface="Calibri" pitchFamily="34" charset="0"/>
              </a:rPr>
              <a:t>/kosar – Kosar nezet</a:t>
            </a:r>
          </a:p>
          <a:p>
            <a:r>
              <a:rPr lang="hu-HU" sz="2400" dirty="0">
                <a:solidFill>
                  <a:srgbClr val="FFFFFF"/>
                </a:solidFill>
                <a:latin typeface="Calibri" pitchFamily="34" charset="0"/>
              </a:rPr>
              <a:t>/profil – Felhasznaloi profil</a:t>
            </a:r>
          </a:p>
          <a:p>
            <a:r>
              <a:rPr lang="hu-HU" sz="2400" dirty="0">
                <a:solidFill>
                  <a:srgbClr val="FFFFFF"/>
                </a:solidFill>
                <a:latin typeface="Calibri" pitchFamily="34" charset="0"/>
              </a:rPr>
              <a:t>/bejelentkezes, /regisztracio</a:t>
            </a:r>
          </a:p>
          <a:p>
            <a:r>
              <a:rPr lang="hu-HU" sz="2400" dirty="0">
                <a:solidFill>
                  <a:srgbClr val="FFFFFF"/>
                </a:solidFill>
                <a:latin typeface="Calibri" pitchFamily="34" charset="0"/>
              </a:rPr>
              <a:t>/admin – Admin panel (kulon layout)</a:t>
            </a:r>
          </a:p>
        </p:txBody>
      </p:sp>
      <p:sp>
        <p:nvSpPr>
          <p:cNvPr id="13" name="C3bg"/>
          <p:cNvSpPr/>
          <p:nvPr/>
        </p:nvSpPr>
        <p:spPr>
          <a:xfrm>
            <a:off x="8229600" y="1280160"/>
            <a:ext cx="3657600" cy="5120640"/>
          </a:xfrm>
          <a:prstGeom prst="rect">
            <a:avLst/>
          </a:prstGeom>
          <a:solidFill>
            <a:srgbClr val="FFFFFF">
              <a:alpha val="5000"/>
            </a:srgbClr>
          </a:solidFill>
          <a:ln w="19050">
            <a:solidFill>
              <a:srgbClr val="7C3AED"/>
            </a:solidFill>
          </a:ln>
        </p:spPr>
        <p:txBody>
          <a:bodyPr/>
          <a:lstStyle/>
          <a:p>
            <a:endParaRPr lang="hu-HU" sz="2200"/>
          </a:p>
        </p:txBody>
      </p:sp>
      <p:sp>
        <p:nvSpPr>
          <p:cNvPr id="14" name="C3top"/>
          <p:cNvSpPr/>
          <p:nvPr/>
        </p:nvSpPr>
        <p:spPr>
          <a:xfrm>
            <a:off x="8229600" y="1280160"/>
            <a:ext cx="36576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txBody>
          <a:bodyPr/>
          <a:lstStyle/>
          <a:p>
            <a:endParaRPr lang="hu-HU" sz="2200"/>
          </a:p>
        </p:txBody>
      </p:sp>
      <p:sp>
        <p:nvSpPr>
          <p:cNvPr id="15" name="C3title"/>
          <p:cNvSpPr/>
          <p:nvPr/>
        </p:nvSpPr>
        <p:spPr>
          <a:xfrm>
            <a:off x="8351520" y="1310880"/>
            <a:ext cx="3413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hu-HU" sz="2200" b="1" dirty="0">
                <a:solidFill>
                  <a:srgbClr val="FFFFFF"/>
                </a:solidFill>
                <a:latin typeface="Trebuchet MS" pitchFamily="34" charset="0"/>
              </a:rPr>
              <a:t>Vedett utvonalak</a:t>
            </a:r>
          </a:p>
        </p:txBody>
      </p:sp>
      <p:sp>
        <p:nvSpPr>
          <p:cNvPr id="16" name="C3body"/>
          <p:cNvSpPr/>
          <p:nvPr/>
        </p:nvSpPr>
        <p:spPr>
          <a:xfrm>
            <a:off x="8351520" y="1889280"/>
            <a:ext cx="3413760" cy="4389120"/>
          </a:xfrm>
          <a:prstGeom prst="rect">
            <a:avLst/>
          </a:prstGeom>
          <a:noFill/>
          <a:ln/>
        </p:spPr>
        <p:txBody>
          <a:bodyPr wrap="square" lIns="0" tIns="60960" rIns="0" bIns="0" rtlCol="0" anchor="t"/>
          <a:lstStyle/>
          <a:p>
            <a:r>
              <a:rPr lang="hu-HU" sz="2200" dirty="0">
                <a:solidFill>
                  <a:srgbClr val="FFFFFF"/>
                </a:solidFill>
                <a:latin typeface="Calibri" pitchFamily="34" charset="0"/>
              </a:rPr>
              <a:t>Admin panel csak /admin uton erheto el</a:t>
            </a:r>
          </a:p>
          <a:p>
            <a:endParaRPr lang="hu-HU" sz="2200" dirty="0"/>
          </a:p>
          <a:p>
            <a:r>
              <a:rPr lang="hu-HU" sz="2200" dirty="0">
                <a:solidFill>
                  <a:srgbClr val="FFFFFF"/>
                </a:solidFill>
                <a:latin typeface="Calibri" pitchFamily="34" charset="0"/>
              </a:rPr>
              <a:t>Kosar</a:t>
            </a:r>
          </a:p>
          <a:p>
            <a:r>
              <a:rPr lang="hu-HU" sz="2200" dirty="0">
                <a:solidFill>
                  <a:srgbClr val="FFFFFF"/>
                </a:solidFill>
                <a:latin typeface="Calibri" pitchFamily="34" charset="0"/>
              </a:rPr>
              <a:t>Profil</a:t>
            </a:r>
          </a:p>
          <a:p>
            <a:r>
              <a:rPr lang="hu-HU" sz="2200" dirty="0">
                <a:solidFill>
                  <a:srgbClr val="FFFFFF"/>
                </a:solidFill>
                <a:latin typeface="Calibri" pitchFamily="34" charset="0"/>
              </a:rPr>
              <a:t>rendelesek: auth szukseges (token ellenorzes useAuth()-on keresztul)</a:t>
            </a:r>
          </a:p>
          <a:p>
            <a:endParaRPr lang="hu-HU" sz="2200" dirty="0"/>
          </a:p>
          <a:p>
            <a:r>
              <a:rPr lang="hu-HU" sz="2200" dirty="0">
                <a:solidFill>
                  <a:srgbClr val="FFFFFF"/>
                </a:solidFill>
                <a:latin typeface="Calibri" pitchFamily="34" charset="0"/>
              </a:rPr>
              <a:t>Header/Footer nelkuli admin layout – kulon Route ag</a:t>
            </a:r>
          </a:p>
        </p:txBody>
      </p:sp>
      <p:sp>
        <p:nvSpPr>
          <p:cNvPr id="17" name="BB"/>
          <p:cNvSpPr/>
          <p:nvPr/>
        </p:nvSpPr>
        <p:spPr>
          <a:xfrm>
            <a:off x="0" y="6614400"/>
            <a:ext cx="12192000" cy="243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</a:ln>
        </p:spPr>
        <p:txBody>
          <a:bodyPr/>
          <a:lstStyle/>
          <a:p>
            <a:endParaRPr lang="hu-HU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4384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Továbbfejlesztési lehetőségek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600" y="1463040"/>
            <a:ext cx="5120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84010" y="1285809"/>
            <a:ext cx="5486400" cy="1645920"/>
          </a:xfrm>
          <a:prstGeom prst="rect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/>
          <p:nvPr/>
        </p:nvSpPr>
        <p:spPr>
          <a:xfrm>
            <a:off x="3466890" y="1407729"/>
            <a:ext cx="5120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 Mobilalkalmazás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466890" y="1919793"/>
            <a:ext cx="5120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iOS/Android </a:t>
            </a:r>
            <a:r>
              <a:rPr lang="en-US" sz="2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kliens</a:t>
            </a: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meglévő REST API-ra épülve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26720" y="3230880"/>
            <a:ext cx="5486400" cy="1645920"/>
          </a:xfrm>
          <a:prstGeom prst="rect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u-HU" sz="2400"/>
          </a:p>
        </p:txBody>
      </p:sp>
      <p:sp>
        <p:nvSpPr>
          <p:cNvPr id="10" name="Text 8"/>
          <p:cNvSpPr/>
          <p:nvPr/>
        </p:nvSpPr>
        <p:spPr>
          <a:xfrm>
            <a:off x="609600" y="3352800"/>
            <a:ext cx="5120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🔔  E-mail értesítők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09600" y="3864864"/>
            <a:ext cx="5120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Rendelés-visszaigazolás, státuszváltozás </a:t>
            </a:r>
            <a:r>
              <a:rPr lang="en-US" sz="2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</a:t>
            </a: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hírlevél</a:t>
            </a:r>
            <a:r>
              <a:rPr lang="hu-HU" sz="2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</a:t>
            </a:r>
            <a:r>
              <a:rPr lang="hu-HU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hu-HU" sz="2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értesités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278880" y="3230880"/>
            <a:ext cx="5486400" cy="1645920"/>
          </a:xfrm>
          <a:prstGeom prst="rect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DB2777"/>
            </a:solidFill>
            <a:prstDash val="solid"/>
          </a:ln>
        </p:spPr>
        <p:txBody>
          <a:bodyPr/>
          <a:lstStyle/>
          <a:p>
            <a:endParaRPr lang="hu-HU" sz="2400"/>
          </a:p>
        </p:txBody>
      </p:sp>
      <p:sp>
        <p:nvSpPr>
          <p:cNvPr id="13" name="Text 11"/>
          <p:cNvSpPr/>
          <p:nvPr/>
        </p:nvSpPr>
        <p:spPr>
          <a:xfrm>
            <a:off x="6461760" y="3352800"/>
            <a:ext cx="5120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DB27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 Értékelési rendszer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61760" y="3864864"/>
            <a:ext cx="5120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Vásárlói vélemények, </a:t>
            </a:r>
            <a:r>
              <a:rPr lang="en-US" sz="2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csillagos</a:t>
            </a: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értékelés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426720" y="5120640"/>
            <a:ext cx="5486400" cy="1645920"/>
          </a:xfrm>
          <a:prstGeom prst="rect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hu-HU" sz="2400"/>
          </a:p>
        </p:txBody>
      </p:sp>
      <p:sp>
        <p:nvSpPr>
          <p:cNvPr id="16" name="Text 14"/>
          <p:cNvSpPr/>
          <p:nvPr/>
        </p:nvSpPr>
        <p:spPr>
          <a:xfrm>
            <a:off x="609600" y="5242560"/>
            <a:ext cx="5120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Analitika dashboard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09600" y="5754624"/>
            <a:ext cx="5120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Eladási statisztikák, trendek, </a:t>
            </a:r>
            <a:r>
              <a:rPr lang="en-US" sz="2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legnépszerűbb</a:t>
            </a: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termékek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278880" y="5120640"/>
            <a:ext cx="5486400" cy="1645920"/>
          </a:xfrm>
          <a:prstGeom prst="rect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hu-HU" sz="2400"/>
          </a:p>
        </p:txBody>
      </p:sp>
      <p:sp>
        <p:nvSpPr>
          <p:cNvPr id="19" name="Text 17"/>
          <p:cNvSpPr/>
          <p:nvPr/>
        </p:nvSpPr>
        <p:spPr>
          <a:xfrm>
            <a:off x="6461760" y="5242560"/>
            <a:ext cx="5120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Elasticsearch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461760" y="5754624"/>
            <a:ext cx="51206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keresés, automatikus kiegészítés, </a:t>
            </a:r>
            <a:r>
              <a:rPr lang="en-US" sz="2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relevancia-alapú</a:t>
            </a: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rangsorolás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268224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/>
          <p:nvPr/>
        </p:nvSpPr>
        <p:spPr>
          <a:xfrm>
            <a:off x="670560" y="6096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Összegzés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70560" y="1706880"/>
            <a:ext cx="1109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hu-HU" sz="2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stack webáruház: React frontend + Node.js/Express REST API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70560" y="2353056"/>
            <a:ext cx="1109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JWT-alapú, kétszintű autentikáció (user / admin szerepkörök)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70560" y="2999232"/>
            <a:ext cx="1109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CRUD műveletek termékekre, kosárra és rendelésekre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70560" y="3645408"/>
            <a:ext cx="1109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Tranzakcióbiztos rendelésfeldolgozás, készletkezelés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70560" y="4291584"/>
            <a:ext cx="1109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Admin panel: felhasználó- és rendeléskezelés, dashboard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70560" y="4937760"/>
            <a:ext cx="1109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70560" y="5730240"/>
            <a:ext cx="10972800" cy="48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/>
          <p:nvPr/>
        </p:nvSpPr>
        <p:spPr>
          <a:xfrm>
            <a:off x="670560" y="591312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Köszönöm a figyelmet!  |  REI </a:t>
            </a:r>
            <a:r>
              <a:rPr lang="en-US" sz="1600" dirty="0" err="1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Webshop</a:t>
            </a:r>
            <a:r>
              <a:rPr lang="en-US" sz="1600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731</Words>
  <Application>Microsoft Office PowerPoint</Application>
  <PresentationFormat>Widescreen</PresentationFormat>
  <Paragraphs>226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Trebuchet MS</vt:lpstr>
      <vt:lpstr>Office-téma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Tezsla Richard</dc:creator>
  <cp:lastModifiedBy>Tézsla Richárd</cp:lastModifiedBy>
  <cp:revision>27</cp:revision>
  <dcterms:created xsi:type="dcterms:W3CDTF">2026-03-23T07:07:09Z</dcterms:created>
  <dcterms:modified xsi:type="dcterms:W3CDTF">2026-04-16T21:21:16Z</dcterms:modified>
</cp:coreProperties>
</file>